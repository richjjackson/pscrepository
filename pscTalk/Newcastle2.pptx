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47"/>
  </p:normalViewPr>
  <p:slideViewPr>
    <p:cSldViewPr snapToGrid="0">
      <p:cViewPr varScale="1">
        <p:scale>
          <a:sx n="122" d="100"/>
          <a:sy n="122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E303-D4FD-9BDF-CEE8-46D692A21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95181-93EC-EB04-3277-8EEEA4DBF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6DBEE-F25B-741B-3B75-4C81121F4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B700A-82A5-FA41-1A13-0C9D533D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3967A-5869-70F5-7B16-44B27CD8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1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1DA1-4754-823A-23CE-9C4ECF5C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855D1-D9D5-EB4E-6AB7-665719AA3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990E7-95DA-F5EA-B846-5EDC5A65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76F8C-6B46-397E-82EC-F463D928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679C4-273A-1CD6-978E-F26FC39E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9419-1311-063F-8311-1D2A071E9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21227-FDAC-AE1A-C722-857514257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89681-5014-E4F8-1229-FE198E52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45E71-74BE-292E-D5CD-655AB4A9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8A766-E07F-2291-B725-E22E1E7A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7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C12B1-DF80-C173-A6A5-56690DFE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C715A-0C3D-6320-C035-87E86E62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62970-84B2-6475-A592-E37332F4D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CEAF4-F525-7F7D-8EBB-E337D269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C48FB-78E6-DBE3-30B8-A57D2F46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C6247-2ABE-2B4E-2231-34A5FD41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63EF-EB41-4811-40AA-010F921A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E0BBF-11A5-86FC-1A9F-D09B155BB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26C48-B841-4EAE-CBB3-C1317AA40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6E5DE-AB7B-2F58-6C67-CAB5C6764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E5FB7-6BA2-583E-36CF-9DA104A4B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C914A-022C-9FB6-60D2-A2073B1B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961BC-AFBC-0FC5-D484-CF4B67D4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7D4E37-5B1C-8358-D298-0670A9C1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5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EF36-BDBC-DC05-CC99-A0768FF31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A2674-50AB-BB72-CC86-1BBE44AC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9A446-6091-9881-E0C6-49E1F8BC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DB2BE-6F5A-67C9-3EAC-F3BE01E30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3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CF93A-F8E6-9AA3-03F8-535CAD8A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47131-8DD7-3BAE-7B2F-5D1C62FA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CFB95-CC1F-D35D-EAB5-26CC80F0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2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138A2-AA47-4739-2D52-CBBC30FD5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1F0CF-DD62-33E1-FD34-8A1FC9E8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FEBB-5FC2-D10F-E04C-26EFA5B23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FD953-59DA-1995-B310-34FB15DB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9FB45-8E90-EAF7-ED4A-F4368B6F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8DFA0-E192-32A5-966A-930E667B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4A52-DBAE-CA5D-20BD-7C83B1432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79BCD-BE9E-A38C-C3DE-4A8CFA23F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28C36-12D1-D010-0980-887C07FA8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6891F-1ED4-F3E1-E9CF-E0982244C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C5C9A-3A66-3BAA-FB44-0CD74C65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E21A9-E39E-44AD-3A06-909F2F8F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F69F-742A-723C-A7EF-15FC850A2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44134-7A8F-CEE2-D029-527301E39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67CE-E02B-C9F4-5FFE-F84040AC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B892A-150D-4BB7-9EDE-4994276A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FDC3A-BDF3-45FE-6A88-CB66D684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6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53257-31B7-58C7-E8EB-B760690AE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65222-4E9F-18FC-FC3C-F8D46C04A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444C6-05AE-348E-9CE3-D2E43CAC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0D9EC-07B9-54B9-0FB4-0BF69E9E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77BE3-9C89-9789-22FC-DB1A4255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8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46989-9A30-A115-F0B3-FCA1ED05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D2016-EAD1-627B-B079-AC72CF308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3121-C862-C845-76D7-FA838F472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6C4CC-6EEF-594C-A7A4-CEE67A8CE96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AB6C3-259E-C56B-61B3-2E713B882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2A7D-3082-F2AD-8FC6-E3C272E68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49F91-1B2C-DD45-9A1C-1D9B2110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6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9407-6803-F6BD-00C0-9ACC86F4EA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Personalised Synthetic Controls for Efficient Trial Design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86A55-90E1-DF79-3362-CE649182DD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Richard Jackson</a:t>
            </a:r>
          </a:p>
        </p:txBody>
      </p:sp>
    </p:spTree>
    <p:extLst>
      <p:ext uri="{BB962C8B-B14F-4D97-AF65-F5344CB8AC3E}">
        <p14:creationId xmlns:p14="http://schemas.microsoft.com/office/powerpoint/2010/main" val="3300358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9C35-655F-B68B-AEE2-07F545F40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065C0-4FD1-022A-4A2D-A1253BA65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127" cy="3785466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rPr lang="en-GB" dirty="0"/>
              <a:t>The problem: evidence without a concurrent control arm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Personalised synthetic controls (PSC)</a:t>
            </a:r>
          </a:p>
          <a:p>
            <a:pPr lvl="1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Estimation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PSC as causal inference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Comparison with other causal / comparative methods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PSCs in practice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PSCs in clinical trials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rPr lang="en-GB" dirty="0"/>
              <a:t>Limitations and Future Directions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4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6821-3EFC-6485-E73E-9D600DC8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31AFDD-E2A9-2EEB-E054-4C1A68743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447" y="1336966"/>
            <a:ext cx="8199106" cy="493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1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12C2-D9C6-BCE6-808C-3D355BDE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3794C-1519-70C6-40EC-7E28DAF36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24754" cy="3075682"/>
          </a:xfrm>
        </p:spPr>
        <p:txBody>
          <a:bodyPr>
            <a:normAutofit/>
          </a:bodyPr>
          <a:lstStyle/>
          <a:p>
            <a:r>
              <a:rPr lang="en-US" dirty="0"/>
              <a:t>Comparing information from 2 different sources </a:t>
            </a:r>
          </a:p>
          <a:p>
            <a:r>
              <a:rPr lang="en-US" dirty="0"/>
              <a:t>Estimating Efficacy in a reliable way</a:t>
            </a:r>
          </a:p>
          <a:p>
            <a:r>
              <a:rPr lang="en-US" dirty="0"/>
              <a:t>Can the model act as some sort of ‘Synthetic Controls’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A43E96-61AE-BC0F-E9EB-B480E609F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850" y="1375618"/>
            <a:ext cx="5107950" cy="307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2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9066-B1D8-C8E0-F707-3238A93B9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6F0C7-FFBF-2D5F-5B32-DAA23C08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708A-E2C3-3A30-5D09-4CB920B19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24754" cy="3075682"/>
          </a:xfrm>
        </p:spPr>
        <p:txBody>
          <a:bodyPr>
            <a:normAutofit/>
          </a:bodyPr>
          <a:lstStyle/>
          <a:p>
            <a:r>
              <a:rPr lang="en-US" dirty="0"/>
              <a:t>Comparing information from 2 different sources </a:t>
            </a:r>
          </a:p>
          <a:p>
            <a:r>
              <a:rPr lang="en-US" dirty="0"/>
              <a:t>Estimating Efficacy in a reliable way</a:t>
            </a:r>
          </a:p>
          <a:p>
            <a:r>
              <a:rPr lang="en-US" dirty="0"/>
              <a:t>Can the model act as some sort of ‘Synthetic Controls’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FC3B68-E3B8-E888-923A-0BB0DFC89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850" y="1375618"/>
            <a:ext cx="5107950" cy="307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138E-E71A-45A5-3AC5-A92F2B09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Controls (a 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E7B1-ECB5-09A5-AE85-1C54B045B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32586" cy="4564665"/>
          </a:xfrm>
        </p:spPr>
        <p:txBody>
          <a:bodyPr/>
          <a:lstStyle/>
          <a:p>
            <a:r>
              <a:rPr lang="en-US" dirty="0"/>
              <a:t>An approach which creates a synthetic comparison group to act as counter-factual evidence</a:t>
            </a:r>
          </a:p>
          <a:p>
            <a:pPr lvl="1"/>
            <a:r>
              <a:rPr lang="en-US" dirty="0"/>
              <a:t>Widely used in areas which measure the effects of policies. (</a:t>
            </a:r>
            <a:r>
              <a:rPr lang="en-GB" b="1" dirty="0"/>
              <a:t>economics</a:t>
            </a:r>
            <a:r>
              <a:rPr lang="en-GB" dirty="0"/>
              <a:t>, </a:t>
            </a:r>
            <a:r>
              <a:rPr lang="en-GB" b="1" dirty="0"/>
              <a:t>political science</a:t>
            </a:r>
            <a:r>
              <a:rPr lang="en-GB" dirty="0"/>
              <a:t>, </a:t>
            </a:r>
            <a:r>
              <a:rPr lang="en-GB" b="1" dirty="0"/>
              <a:t>public health</a:t>
            </a:r>
            <a:r>
              <a:rPr lang="en-GB" dirty="0"/>
              <a:t>, </a:t>
            </a:r>
            <a:r>
              <a:rPr lang="en-GB" b="1" dirty="0"/>
              <a:t>education</a:t>
            </a:r>
            <a:r>
              <a:rPr lang="en-GB" dirty="0"/>
              <a:t>, </a:t>
            </a:r>
            <a:r>
              <a:rPr lang="en-GB" b="1" dirty="0"/>
              <a:t>environmental policy</a:t>
            </a:r>
            <a:r>
              <a:rPr lang="en-GB" dirty="0"/>
              <a:t>, </a:t>
            </a:r>
            <a:r>
              <a:rPr lang="en-GB" b="1" dirty="0"/>
              <a:t>marketing)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0F62ED-8E86-B2AE-990C-10E3147C5FBB}"/>
              </a:ext>
            </a:extLst>
          </p:cNvPr>
          <p:cNvSpPr/>
          <p:nvPr/>
        </p:nvSpPr>
        <p:spPr>
          <a:xfrm>
            <a:off x="10576033" y="2701160"/>
            <a:ext cx="1353211" cy="17263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Trt</a:t>
            </a:r>
            <a:r>
              <a:rPr lang="en-US" dirty="0"/>
              <a:t> Group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EA712B0-B00B-47CD-5A65-62693ECDE2B2}"/>
              </a:ext>
            </a:extLst>
          </p:cNvPr>
          <p:cNvSpPr/>
          <p:nvPr/>
        </p:nvSpPr>
        <p:spPr>
          <a:xfrm>
            <a:off x="8671036" y="2701160"/>
            <a:ext cx="1353212" cy="172632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Synthetic Control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5440AB-D4A8-D877-D841-CE9A6C3F9051}"/>
              </a:ext>
            </a:extLst>
          </p:cNvPr>
          <p:cNvSpPr/>
          <p:nvPr/>
        </p:nvSpPr>
        <p:spPr>
          <a:xfrm>
            <a:off x="6570281" y="1825625"/>
            <a:ext cx="817181" cy="175840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595501-9164-2390-8C19-3DEF0B77B6EB}"/>
              </a:ext>
            </a:extLst>
          </p:cNvPr>
          <p:cNvSpPr/>
          <p:nvPr/>
        </p:nvSpPr>
        <p:spPr>
          <a:xfrm>
            <a:off x="6570281" y="3788430"/>
            <a:ext cx="817181" cy="63905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E9BCDB-10E9-1A9E-2080-FD54FB73DF95}"/>
              </a:ext>
            </a:extLst>
          </p:cNvPr>
          <p:cNvSpPr/>
          <p:nvPr/>
        </p:nvSpPr>
        <p:spPr>
          <a:xfrm>
            <a:off x="6568968" y="4631885"/>
            <a:ext cx="817181" cy="175840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2C97E557-8CA9-ECE2-FA4B-174ACFC0FAE3}"/>
              </a:ext>
            </a:extLst>
          </p:cNvPr>
          <p:cNvSpPr/>
          <p:nvPr/>
        </p:nvSpPr>
        <p:spPr>
          <a:xfrm>
            <a:off x="7870935" y="1825625"/>
            <a:ext cx="688423" cy="4564664"/>
          </a:xfrm>
          <a:prstGeom prst="rightBrace">
            <a:avLst>
              <a:gd name="adj1" fmla="val 8333"/>
              <a:gd name="adj2" fmla="val 3940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2AEEFFD-03A0-223B-86A2-C902D4251F70}"/>
              </a:ext>
            </a:extLst>
          </p:cNvPr>
          <p:cNvSpPr/>
          <p:nvPr/>
        </p:nvSpPr>
        <p:spPr>
          <a:xfrm>
            <a:off x="7633132" y="2727976"/>
            <a:ext cx="374440" cy="275995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Weights</a:t>
            </a:r>
          </a:p>
        </p:txBody>
      </p:sp>
    </p:spTree>
    <p:extLst>
      <p:ext uri="{BB962C8B-B14F-4D97-AF65-F5344CB8AC3E}">
        <p14:creationId xmlns:p14="http://schemas.microsoft.com/office/powerpoint/2010/main" val="1352932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593A-67F1-B731-6C50-9AB916921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3CA365-D601-3B57-20E8-E711E7D02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046524"/>
            <a:ext cx="52324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33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0327-C6DD-4C3C-0C77-C5A9AA4C0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4E828-ADF6-19B1-FCC7-E346940CB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Replicating Trial analysis</a:t>
            </a:r>
          </a:p>
          <a:p>
            <a:pPr lvl="1"/>
            <a:r>
              <a:rPr lang="en-US" dirty="0"/>
              <a:t>RCT data</a:t>
            </a:r>
          </a:p>
          <a:p>
            <a:pPr lvl="1"/>
            <a:r>
              <a:rPr lang="en-US" dirty="0"/>
              <a:t>Observational data</a:t>
            </a:r>
          </a:p>
          <a:p>
            <a:r>
              <a:rPr lang="en-US" dirty="0"/>
              <a:t>Predicting phase III outcomes</a:t>
            </a:r>
          </a:p>
          <a:p>
            <a:r>
              <a:rPr lang="en-US" dirty="0"/>
              <a:t>Estimating Treatment Effects</a:t>
            </a:r>
          </a:p>
        </p:txBody>
      </p:sp>
    </p:spTree>
    <p:extLst>
      <p:ext uri="{BB962C8B-B14F-4D97-AF65-F5344CB8AC3E}">
        <p14:creationId xmlns:p14="http://schemas.microsoft.com/office/powerpoint/2010/main" val="224715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CB24-AAD4-8FEB-B1A5-C24D46B6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97864-A069-DE7E-ECCE-FB683569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Proximity Weights</a:t>
            </a:r>
          </a:p>
          <a:p>
            <a:r>
              <a:rPr lang="en-US" dirty="0"/>
              <a:t>YODA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0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178</Words>
  <Application>Microsoft Macintosh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Personalised Synthetic Controls for Efficient Trial Design</vt:lpstr>
      <vt:lpstr>Introduction</vt:lpstr>
      <vt:lpstr>The Problem…</vt:lpstr>
      <vt:lpstr>The Problem</vt:lpstr>
      <vt:lpstr>The Problem</vt:lpstr>
      <vt:lpstr>Synthetic Controls (a recap)</vt:lpstr>
      <vt:lpstr>PowerPoint Presentation</vt:lpstr>
      <vt:lpstr>Uses in Practice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Jackson, Richard [richj23]</dc:creator>
  <cp:lastModifiedBy>Jackson, Richard [richj23]</cp:lastModifiedBy>
  <cp:revision>2</cp:revision>
  <dcterms:created xsi:type="dcterms:W3CDTF">2026-05-18T15:35:57Z</dcterms:created>
  <dcterms:modified xsi:type="dcterms:W3CDTF">2026-05-19T15:48:12Z</dcterms:modified>
</cp:coreProperties>
</file>