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407" r:id="rId2"/>
    <p:sldId id="408" r:id="rId3"/>
    <p:sldId id="409" r:id="rId4"/>
    <p:sldId id="259" r:id="rId5"/>
    <p:sldId id="261" r:id="rId6"/>
    <p:sldId id="276" r:id="rId7"/>
    <p:sldId id="266" r:id="rId8"/>
    <p:sldId id="410" r:id="rId9"/>
    <p:sldId id="275" r:id="rId10"/>
    <p:sldId id="267" r:id="rId11"/>
    <p:sldId id="279" r:id="rId12"/>
    <p:sldId id="280" r:id="rId13"/>
    <p:sldId id="262" r:id="rId14"/>
    <p:sldId id="268" r:id="rId15"/>
    <p:sldId id="282" r:id="rId16"/>
    <p:sldId id="269" r:id="rId17"/>
    <p:sldId id="411" r:id="rId18"/>
    <p:sldId id="272" r:id="rId19"/>
    <p:sldId id="263" r:id="rId20"/>
    <p:sldId id="283" r:id="rId21"/>
    <p:sldId id="284" r:id="rId22"/>
    <p:sldId id="413" r:id="rId23"/>
    <p:sldId id="265" r:id="rId24"/>
    <p:sldId id="414" r:id="rId25"/>
    <p:sldId id="287" r:id="rId26"/>
    <p:sldId id="41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6"/>
    <p:restoredTop sz="94678"/>
  </p:normalViewPr>
  <p:slideViewPr>
    <p:cSldViewPr snapToGrid="0" snapToObjects="1">
      <p:cViewPr varScale="1">
        <p:scale>
          <a:sx n="196" d="100"/>
          <a:sy n="196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D3979-97DC-4B4E-9D6C-D60AD0DA7F70}" type="datetimeFigureOut">
              <a:rPr lang="en-US" smtClean="0"/>
              <a:t>9/13/21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EECA0-0DFC-E94D-BDCD-2CEC51FB1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9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Considering the scenario whereby the dataset and the model receive different treatments!!!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ECA0-0DFC-E94D-BDCD-2CEC51FB11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5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A4FE-5DAE-D344-B97D-82D5885FE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1083E-E2D1-BF44-B5AC-C1691F07C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83E59-1312-7746-9B69-8FE77C7E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8924-CBB0-304E-A94A-30E87114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B67D7-3F08-534E-A027-17E0CD47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9A05-03C3-2A4B-9F71-FDA60910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FDC9-7C5C-D54E-BE12-F2CFB462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548C0-C806-6E4D-AAA2-FAAA148C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01A6-95E1-CA4A-8538-AD0D890D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D123-B838-9346-9D67-612994F1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4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0BCC-EC0B-8A4C-BEA9-3255C121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26DE4-2E2B-CD45-A404-F72B6470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3A5B-8BB6-FC4F-BBB6-CA17B7C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E427-03AE-EA41-944D-EA5C3ED9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9AFE-62A6-F34E-BC34-7B603AE6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0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F63D-460A-5C4D-83DC-1465DB31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DD25-94C0-A947-A3CB-89A0DD986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C2A5B-84F2-2D4E-AF53-57EE238C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91AB3-8EFD-264D-97D4-F454C40A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055B2-34FD-E646-AA54-34D72F5E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C1F81-34E0-5E4F-A87C-2D64AC78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5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6F47-A666-A84C-AB4B-379F7AA6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417CA-0327-6E41-B2F4-6546A561F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6D2E-ED85-DF43-B9EB-335EA58F5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B6FA7-5F87-4243-BB3B-5A28D0F27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75498-E3AD-6C4A-9E30-739496E39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99ECB-3603-C74E-9E46-20C195B0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72B96-FACB-7A42-B611-AC199ADE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7F018-118B-1448-8F8B-80C2743B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7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7660-BB00-F34A-8939-8D566111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DD242-863B-744B-8E29-B597A68C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2B616-F13D-4047-99A8-9B4B57E8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88F5B-0381-BF4F-B45C-6757C192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0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4A49C-199C-6646-952E-FFDDA052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4C4A0-0AF2-1C4E-BAF0-3255D490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7E937-C6F1-A045-851E-2892F17A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54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0ED8-D12E-BA48-ADB4-7F5342D1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55ED-03CF-254F-A1ED-F849EEA2A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8C9AC-FC8C-2249-A7A0-68CE03C31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8C8F-1E17-354E-B78E-0337B3C9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0FAC8-9F96-A544-B81D-A8C25466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4C61D-6F1D-BB48-9A01-14218A73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9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7DEE-0602-3C40-BC01-9B7A6C67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3A7FC-DB83-6841-8447-7DDBB3A11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ED6C4-5B3E-FE49-8431-E07612F27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43C60-B0FF-D64B-9D56-013A87B1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62D96-3DBE-FF46-885A-DD8B076D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7A84-A32E-094B-9106-10675716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3AFF-2FB2-044F-9D06-8A95AED8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004B1-ADB5-A441-9277-8B222BC0E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3BFFB-7939-3A4D-B07F-5836893B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2188D-405A-1345-B8C7-12B13725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2941-45B6-3742-93C1-F6292892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2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32D33-46C8-2D4C-9339-A9C1712DB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6F2B2-C9CD-8A4F-BF75-A30D296F1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CE58D-E16E-A24D-A393-E1223C2C77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83C97E-6D7E-684C-8500-A7113D0D7E9D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2020D-3082-C544-AD94-222F097F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61BAD-D2DB-E54C-924F-CF19B39E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B6A19E-58F5-F14D-A874-A234E8017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3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4DB4AA-E1B2-CE4E-98F3-228219D3EDD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34441" y="457200"/>
            <a:ext cx="4767720" cy="64008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3CC3F-A156-7949-A309-EDA9B774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1513840"/>
            <a:ext cx="9824720" cy="898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7AB85-2FD6-AC4F-962D-F9E5CEF23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8720" y="2489200"/>
            <a:ext cx="9824720" cy="4033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7A7273-60D3-144E-B9C8-4BD4F5CB8C4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1" y="9176"/>
            <a:ext cx="2697543" cy="160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0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F724-D7F1-184E-9E81-0B719430A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Personalised Synthetic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3CFF8-3948-2C45-BEE6-1009BD7DB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Richard Jackson, </a:t>
            </a:r>
          </a:p>
          <a:p>
            <a:r>
              <a:rPr lang="en-US" dirty="0"/>
              <a:t>Lead Statistician, Cancer and Early Phase Trials</a:t>
            </a:r>
          </a:p>
          <a:p>
            <a:r>
              <a:rPr lang="en-US" dirty="0"/>
              <a:t>Liverpool Clinical Trials Centre</a:t>
            </a:r>
          </a:p>
        </p:txBody>
      </p:sp>
    </p:spTree>
    <p:extLst>
      <p:ext uri="{BB962C8B-B14F-4D97-AF65-F5344CB8AC3E}">
        <p14:creationId xmlns:p14="http://schemas.microsoft.com/office/powerpoint/2010/main" val="245990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372F-11D1-0244-9D45-86184977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14E83-82A3-8D48-9C02-B6FB8A67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Problem…. </a:t>
            </a:r>
          </a:p>
          <a:p>
            <a:r>
              <a:rPr lang="en-US" dirty="0"/>
              <a:t>… A Solution</a:t>
            </a:r>
          </a:p>
          <a:p>
            <a:r>
              <a:rPr lang="en-US" dirty="0"/>
              <a:t>Estimation </a:t>
            </a:r>
          </a:p>
          <a:p>
            <a:r>
              <a:rPr lang="en-US" dirty="0"/>
              <a:t>Application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98005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A5C1-BF15-E448-AB76-170D43B4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958" y="333770"/>
            <a:ext cx="9824720" cy="89820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07200-89C1-7143-B50E-EDC724CB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68" y="1066672"/>
            <a:ext cx="9417908" cy="567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1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B62C-CADC-C742-B140-8B4DD794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914" y="401732"/>
            <a:ext cx="9824720" cy="898208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3A687-98BE-9E44-A02E-BA7BEA51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186" y="1729260"/>
            <a:ext cx="9824720" cy="4033203"/>
          </a:xfrm>
        </p:spPr>
        <p:txBody>
          <a:bodyPr/>
          <a:lstStyle/>
          <a:p>
            <a:r>
              <a:rPr lang="en-US" dirty="0"/>
              <a:t>Developed on data obtained from an RCT</a:t>
            </a:r>
          </a:p>
          <a:p>
            <a:pPr lvl="1"/>
            <a:r>
              <a:rPr lang="en-US" dirty="0"/>
              <a:t>Developed on the basis of flexible parametric splines (parametric!)</a:t>
            </a:r>
          </a:p>
          <a:p>
            <a:pPr lvl="1"/>
            <a:r>
              <a:rPr lang="en-US" dirty="0"/>
              <a:t>Includes 11 prognostic covariates</a:t>
            </a:r>
          </a:p>
          <a:p>
            <a:r>
              <a:rPr lang="en-US" dirty="0"/>
              <a:t>Validated on empirical datasets</a:t>
            </a:r>
          </a:p>
          <a:p>
            <a:r>
              <a:rPr lang="en-US" dirty="0"/>
              <a:t>Published</a:t>
            </a:r>
          </a:p>
          <a:p>
            <a:endParaRPr lang="en-US" dirty="0"/>
          </a:p>
          <a:p>
            <a:r>
              <a:rPr lang="en-US" dirty="0"/>
              <a:t>Aim:  How to compare an observational dataset against a predictive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8CE5-C2F4-374E-86FC-24457895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131" y="457338"/>
            <a:ext cx="9824720" cy="898208"/>
          </a:xfrm>
        </p:spPr>
        <p:txBody>
          <a:bodyPr/>
          <a:lstStyle/>
          <a:p>
            <a:r>
              <a:rPr lang="en-US" dirty="0"/>
              <a:t>Solution: Synthetic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56DFE-0F46-CB42-A5F4-DBEE23BF9F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1012" y="1772509"/>
                <a:ext cx="9824720" cy="403320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Traditionally Synthetic Controls look to create a population level ‘control’ group against which to compare experimental interventions</a:t>
                </a:r>
              </a:p>
              <a:p>
                <a:pPr lvl="1"/>
                <a:r>
                  <a:rPr lang="en-US" dirty="0"/>
                  <a:t>We plan to make use of predictive models to adapt this to a patient level comparison.</a:t>
                </a:r>
              </a:p>
              <a:p>
                <a:r>
                  <a:rPr lang="en-US" dirty="0"/>
                  <a:t>What information was available to us?</a:t>
                </a:r>
              </a:p>
              <a:p>
                <a:pPr lvl="1"/>
                <a:r>
                  <a:rPr lang="en-US" dirty="0"/>
                  <a:t>Event time</a:t>
                </a:r>
              </a:p>
              <a:p>
                <a:pPr lvl="1"/>
                <a:r>
                  <a:rPr lang="en-US" dirty="0"/>
                  <a:t>Censoring information</a:t>
                </a:r>
              </a:p>
              <a:p>
                <a:pPr lvl="1"/>
                <a:r>
                  <a:rPr lang="en-US" dirty="0"/>
                  <a:t>Covariate Information</a:t>
                </a:r>
              </a:p>
              <a:p>
                <a:r>
                  <a:rPr lang="en-US" dirty="0"/>
                  <a:t>Decided to evaluate on a patient level!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i="1" baseline="-2500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56DFE-0F46-CB42-A5F4-DBEE23BF9F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1012" y="1772509"/>
                <a:ext cx="9824720" cy="4033203"/>
              </a:xfrm>
              <a:blipFill>
                <a:blip r:embed="rId2"/>
                <a:stretch>
                  <a:fillRect l="-1034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62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8B9A-1196-C441-AE27-66CA6E8C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028" y="420267"/>
            <a:ext cx="9824720" cy="898208"/>
          </a:xfrm>
        </p:spPr>
        <p:txBody>
          <a:bodyPr/>
          <a:lstStyle/>
          <a:p>
            <a:r>
              <a:rPr lang="en-US" dirty="0"/>
              <a:t>Personalised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5C4F98-E7E8-FB46-AFB4-630856A633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4195" y="1778687"/>
                <a:ext cx="9824720" cy="4033203"/>
              </a:xfrm>
            </p:spPr>
            <p:txBody>
              <a:bodyPr/>
              <a:lstStyle/>
              <a:p>
                <a:r>
                  <a:rPr lang="en-US" dirty="0"/>
                  <a:t>Given the parametric nature of the predictive model, we can predict a survival distribution for every individual patient</a:t>
                </a:r>
              </a:p>
              <a:p>
                <a:pPr lvl="1"/>
                <a:r>
                  <a:rPr lang="en-US" dirty="0"/>
                  <a:t>Combing the data from new patients and the model parameters such that: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</a:p>
              <a:p>
                <a:r>
                  <a:rPr lang="en-US" dirty="0"/>
                  <a:t>For every patient in the observation data we can ask:</a:t>
                </a:r>
              </a:p>
              <a:p>
                <a:pPr lvl="1"/>
                <a:r>
                  <a:rPr lang="en-US" dirty="0"/>
                  <a:t>“How would the model have expected this patient to behave”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5C4F98-E7E8-FB46-AFB4-630856A633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195" y="1778687"/>
                <a:ext cx="9824720" cy="4033203"/>
              </a:xfrm>
              <a:blipFill>
                <a:blip r:embed="rId2"/>
                <a:stretch>
                  <a:fillRect l="-1032"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62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104" y="335597"/>
            <a:ext cx="9824720" cy="898208"/>
          </a:xfrm>
        </p:spPr>
        <p:txBody>
          <a:bodyPr/>
          <a:lstStyle/>
          <a:p>
            <a:r>
              <a:rPr lang="en-US" dirty="0"/>
              <a:t>Patient level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E0E5-EC3A-D849-928E-FCEC3728A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62" y="1624695"/>
            <a:ext cx="9824720" cy="4033203"/>
          </a:xfrm>
        </p:spPr>
        <p:txBody>
          <a:bodyPr/>
          <a:lstStyle/>
          <a:p>
            <a:r>
              <a:rPr lang="en-US" dirty="0"/>
              <a:t>Example 1: Predicted survival (with event time)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8DA92-9185-0F49-85A8-FBDEFAB5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305" y="2453464"/>
            <a:ext cx="6886463" cy="4243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15CCDB-4488-E544-9717-3CA93664FA80}"/>
                  </a:ext>
                </a:extLst>
              </p:cNvPr>
              <p:cNvSpPr txBox="1"/>
              <p:nvPr/>
            </p:nvSpPr>
            <p:spPr>
              <a:xfrm>
                <a:off x="10583682" y="2847372"/>
                <a:ext cx="2002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baseline="-25000" dirty="0"/>
                  <a:t>1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15CCDB-4488-E544-9717-3CA93664F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682" y="2847372"/>
                <a:ext cx="200242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08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72" y="395554"/>
            <a:ext cx="9824720" cy="898208"/>
          </a:xfrm>
        </p:spPr>
        <p:txBody>
          <a:bodyPr/>
          <a:lstStyle/>
          <a:p>
            <a:r>
              <a:rPr lang="en-US" dirty="0"/>
              <a:t>Patient level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E0E5-EC3A-D849-928E-FCEC3728A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038" y="1686011"/>
            <a:ext cx="9824720" cy="4033203"/>
          </a:xfrm>
        </p:spPr>
        <p:txBody>
          <a:bodyPr/>
          <a:lstStyle/>
          <a:p>
            <a:r>
              <a:rPr lang="en-US" dirty="0"/>
              <a:t>Example 2: Predicted survival (with event time)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1E13F-AA18-3B4B-8FEF-49F0B48F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00" y="2451142"/>
            <a:ext cx="6864197" cy="4229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DE1CB-733C-2E4C-994F-8A70647FE851}"/>
                  </a:ext>
                </a:extLst>
              </p:cNvPr>
              <p:cNvSpPr txBox="1"/>
              <p:nvPr/>
            </p:nvSpPr>
            <p:spPr>
              <a:xfrm>
                <a:off x="9965803" y="2858947"/>
                <a:ext cx="2002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DE1CB-733C-2E4C-994F-8A70647FE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803" y="2858947"/>
                <a:ext cx="20024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63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991" y="451158"/>
            <a:ext cx="9824720" cy="898208"/>
          </a:xfrm>
        </p:spPr>
        <p:txBody>
          <a:bodyPr/>
          <a:lstStyle/>
          <a:p>
            <a:r>
              <a:rPr lang="en-US" dirty="0"/>
              <a:t>Patient level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E0E5-EC3A-D849-928E-FCEC3728A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55" y="1760151"/>
            <a:ext cx="9824720" cy="4033203"/>
          </a:xfrm>
        </p:spPr>
        <p:txBody>
          <a:bodyPr/>
          <a:lstStyle/>
          <a:p>
            <a:r>
              <a:rPr lang="en-US" dirty="0"/>
              <a:t>Example 3: Predicted survival (with event time)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1A702-6A0F-B740-BEA5-E4B014877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581" y="2340441"/>
            <a:ext cx="6847487" cy="40664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F5BB33-35A0-6545-8219-6E5561ECDBFF}"/>
                  </a:ext>
                </a:extLst>
              </p:cNvPr>
              <p:cNvSpPr txBox="1"/>
              <p:nvPr/>
            </p:nvSpPr>
            <p:spPr>
              <a:xfrm>
                <a:off x="9965803" y="2858947"/>
                <a:ext cx="2002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F5BB33-35A0-6545-8219-6E5561ECD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803" y="2858947"/>
                <a:ext cx="20024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246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level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Assuming that the predictive model is valid….</a:t>
                </a:r>
              </a:p>
              <a:p>
                <a:pPr lvl="1"/>
                <a:r>
                  <a:rPr lang="en-US" dirty="0"/>
                  <a:t>Based on the data, x, and the model parameters,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the probability that a patient died (or was censored) when they did?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47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563" y="383197"/>
            <a:ext cx="9824720" cy="898208"/>
          </a:xfrm>
        </p:spPr>
        <p:txBody>
          <a:bodyPr/>
          <a:lstStyle/>
          <a:p>
            <a:r>
              <a:rPr lang="en-US" dirty="0"/>
              <a:t>Patient level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380" y="1775440"/>
                <a:ext cx="9824720" cy="4033203"/>
              </a:xfrm>
            </p:spPr>
            <p:txBody>
              <a:bodyPr/>
              <a:lstStyle/>
              <a:p>
                <a:r>
                  <a:rPr lang="en-US" dirty="0"/>
                  <a:t>What is the probability a patient died when they did?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NB: f(t) = S(t)h(t)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380" y="1775440"/>
                <a:ext cx="9824720" cy="4033203"/>
              </a:xfrm>
              <a:blipFill>
                <a:blip r:embed="rId2"/>
                <a:stretch>
                  <a:fillRect l="-1032" t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4692504-7D43-914C-AE0F-6E84A57A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22" y="2879646"/>
            <a:ext cx="4932193" cy="2928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CD21C-5E40-1C4F-933A-0E8476177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84" y="2879645"/>
            <a:ext cx="4753809" cy="292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83D-4C43-8E47-A8C1-3418C7AB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849" y="335597"/>
            <a:ext cx="9824720" cy="898208"/>
          </a:xfrm>
        </p:spPr>
        <p:txBody>
          <a:bodyPr/>
          <a:lstStyle/>
          <a:p>
            <a:r>
              <a:rPr lang="en-US" dirty="0"/>
              <a:t>Patient level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909" y="1506838"/>
                <a:ext cx="9824720" cy="4033203"/>
              </a:xfrm>
            </p:spPr>
            <p:txBody>
              <a:bodyPr/>
              <a:lstStyle/>
              <a:p>
                <a:r>
                  <a:rPr lang="en-US" dirty="0"/>
                  <a:t>What is the probability a patient was censored when they where?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6E0E5-EC3A-D849-928E-FCEC3728A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909" y="1506838"/>
                <a:ext cx="9824720" cy="4033203"/>
              </a:xfrm>
              <a:blipFill>
                <a:blip r:embed="rId2"/>
                <a:stretch>
                  <a:fillRect l="-1032" t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E8829AB-6A72-5F42-A8BD-3FC979F05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36" y="2791599"/>
            <a:ext cx="6581646" cy="390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3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2C10-E3C6-4649-A572-CA86450E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1B9A-20F1-6E41-91FE-B064497A3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Defining the likelihood</a:t>
            </a:r>
          </a:p>
          <a:p>
            <a:pPr lvl="1"/>
            <a:r>
              <a:rPr lang="en-US" dirty="0"/>
              <a:t>Standard Likelihood for survival data, but conditional on parameters of the predictive model and patient covariates</a:t>
            </a:r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950F7A-D903-2742-A269-CA30B8D9B8D1}"/>
                  </a:ext>
                </a:extLst>
              </p:cNvPr>
              <p:cNvSpPr txBox="1"/>
              <p:nvPr/>
            </p:nvSpPr>
            <p:spPr>
              <a:xfrm>
                <a:off x="3555917" y="3787117"/>
                <a:ext cx="4389712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GB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GB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-2500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950F7A-D903-2742-A269-CA30B8D9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917" y="3787117"/>
                <a:ext cx="4389712" cy="778931"/>
              </a:xfrm>
              <a:prstGeom prst="rect">
                <a:avLst/>
              </a:prstGeom>
              <a:blipFill>
                <a:blip r:embed="rId2"/>
                <a:stretch>
                  <a:fillRect l="-6916" t="-112903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2E55B5-6732-B449-89E2-45844DAC0B4C}"/>
                  </a:ext>
                </a:extLst>
              </p:cNvPr>
              <p:cNvSpPr txBox="1"/>
              <p:nvPr/>
            </p:nvSpPr>
            <p:spPr>
              <a:xfrm>
                <a:off x="3555917" y="4765294"/>
                <a:ext cx="4214167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GB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-2500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2E55B5-6732-B449-89E2-45844DAC0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917" y="4765294"/>
                <a:ext cx="4214167" cy="778931"/>
              </a:xfrm>
              <a:prstGeom prst="rect">
                <a:avLst/>
              </a:prstGeom>
              <a:blipFill>
                <a:blip r:embed="rId3"/>
                <a:stretch>
                  <a:fillRect t="-112903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50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CC-3413-8049-8EA7-290FED6E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018" y="377018"/>
            <a:ext cx="9824720" cy="898208"/>
          </a:xfrm>
        </p:spPr>
        <p:txBody>
          <a:bodyPr/>
          <a:lstStyle/>
          <a:p>
            <a:r>
              <a:rPr lang="en-US" dirty="0"/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573-9484-CF4E-84A3-BE170EC80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9133" y="1610116"/>
                <a:ext cx="9824720" cy="403320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Maximum likelihood estimation straight forward (using </a:t>
                </a:r>
                <a:r>
                  <a:rPr lang="en-US" dirty="0" err="1"/>
                  <a:t>optim</a:t>
                </a:r>
                <a:r>
                  <a:rPr lang="en-US" dirty="0"/>
                  <a:t> in R)</a:t>
                </a:r>
              </a:p>
              <a:p>
                <a:r>
                  <a:rPr lang="en-US" dirty="0"/>
                  <a:t>So far tells this tells us – what is the probability we observed what we did, </a:t>
                </a:r>
                <a:r>
                  <a:rPr lang="en-US" b="1" i="1" dirty="0"/>
                  <a:t>assuming there is no difference in survival between the groups.</a:t>
                </a:r>
              </a:p>
              <a:p>
                <a:r>
                  <a:rPr lang="en-US" dirty="0"/>
                  <a:t>We need to adapt to measure differences between the two groups</a:t>
                </a:r>
              </a:p>
              <a:p>
                <a:pPr marL="457200" lvl="1" indent="0">
                  <a:buNone/>
                </a:pPr>
                <a:r>
                  <a:rPr lang="en-US" dirty="0"/>
                  <a:t>Amend</a:t>
                </a: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</a:p>
              <a:p>
                <a:pPr marL="457200" lvl="1" indent="0">
                  <a:buNone/>
                </a:pPr>
                <a:r>
                  <a:rPr lang="en-US" dirty="0"/>
                  <a:t>To</a:t>
                </a: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  <a:r>
                  <a:rPr lang="en-US" dirty="0"/>
                  <a:t>+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en-US" baseline="-25000" dirty="0"/>
              </a:p>
              <a:p>
                <a:pPr marL="457200" lvl="1" indent="0">
                  <a:buNone/>
                </a:pPr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GB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𝛄</m:t>
                    </m:r>
                  </m:oMath>
                </a14:m>
                <a:r>
                  <a:rPr lang="en-US" b="1" dirty="0"/>
                  <a:t> measures the difference between the model and the observed data </a:t>
                </a:r>
                <a:r>
                  <a:rPr lang="en-US" dirty="0"/>
                  <a:t>in terms of a (log) hazard ratio.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573-9484-CF4E-84A3-BE170EC80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9133" y="1610116"/>
                <a:ext cx="9824720" cy="4033203"/>
              </a:xfrm>
              <a:blipFill>
                <a:blip r:embed="rId2"/>
                <a:stretch>
                  <a:fillRect l="-903" t="-2194" r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FA1F9-DCEF-0E45-9E82-F8E3891F723A}"/>
                  </a:ext>
                </a:extLst>
              </p:cNvPr>
              <p:cNvSpPr txBox="1"/>
              <p:nvPr/>
            </p:nvSpPr>
            <p:spPr>
              <a:xfrm>
                <a:off x="3802211" y="5588743"/>
                <a:ext cx="4214167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∏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GB" i="1" baseline="-25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GB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GB" i="1" baseline="-25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FA1F9-DCEF-0E45-9E82-F8E3891F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211" y="5588743"/>
                <a:ext cx="4214167" cy="778931"/>
              </a:xfrm>
              <a:prstGeom prst="rect">
                <a:avLst/>
              </a:prstGeom>
              <a:blipFill>
                <a:blip r:embed="rId3"/>
                <a:stretch>
                  <a:fillRect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566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A5C1-BF15-E448-AB76-170D43B4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927" y="389233"/>
            <a:ext cx="9824720" cy="898208"/>
          </a:xfrm>
        </p:spPr>
        <p:txBody>
          <a:bodyPr/>
          <a:lstStyle/>
          <a:p>
            <a:r>
              <a:rPr lang="en-US" dirty="0"/>
              <a:t>Revisiting the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07200-89C1-7143-B50E-EDC724CB4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43" y="1197696"/>
            <a:ext cx="9257270" cy="557413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50CB7F-FC2A-9D4C-A0C8-7E7A0AA9F1E6}"/>
              </a:ext>
            </a:extLst>
          </p:cNvPr>
          <p:cNvCxnSpPr>
            <a:cxnSpLocks/>
          </p:cNvCxnSpPr>
          <p:nvPr/>
        </p:nvCxnSpPr>
        <p:spPr>
          <a:xfrm flipV="1">
            <a:off x="5752478" y="3496963"/>
            <a:ext cx="259084" cy="420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C1BE7B-DE2B-0342-B7F9-E8C6EC82E1E6}"/>
                  </a:ext>
                </a:extLst>
              </p:cNvPr>
              <p:cNvSpPr txBox="1"/>
              <p:nvPr/>
            </p:nvSpPr>
            <p:spPr>
              <a:xfrm>
                <a:off x="6133043" y="3567498"/>
                <a:ext cx="1921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C1BE7B-DE2B-0342-B7F9-E8C6EC82E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043" y="3567498"/>
                <a:ext cx="192167" cy="276999"/>
              </a:xfrm>
              <a:prstGeom prst="rect">
                <a:avLst/>
              </a:prstGeom>
              <a:blipFill>
                <a:blip r:embed="rId3"/>
                <a:stretch>
                  <a:fillRect l="-23529" r="-17647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93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CC-3413-8049-8EA7-290FED6E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D573-9484-CF4E-84A3-BE170EC8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Estimation straight forward using Maximum Likelihood techniques</a:t>
            </a:r>
          </a:p>
          <a:p>
            <a:pPr lvl="1"/>
            <a:r>
              <a:rPr lang="en-US" dirty="0"/>
              <a:t>Using </a:t>
            </a:r>
            <a:r>
              <a:rPr lang="en-US" dirty="0" err="1"/>
              <a:t>optim</a:t>
            </a:r>
            <a:r>
              <a:rPr lang="en-US" dirty="0"/>
              <a:t> in R, we can obtain an estimate of the (log) hazard ratio </a:t>
            </a:r>
          </a:p>
          <a:p>
            <a:pPr lvl="2"/>
            <a:r>
              <a:rPr lang="en-US" dirty="0"/>
              <a:t>Simulation studies show this to be unbiased</a:t>
            </a:r>
          </a:p>
          <a:p>
            <a:pPr lvl="1"/>
            <a:r>
              <a:rPr lang="en-US" dirty="0"/>
              <a:t>However…..</a:t>
            </a:r>
          </a:p>
          <a:p>
            <a:pPr lvl="2"/>
            <a:r>
              <a:rPr lang="en-US" dirty="0"/>
              <a:t>We need to acknowledge that the model we based this on is not perfect</a:t>
            </a:r>
          </a:p>
          <a:p>
            <a:pPr lvl="3"/>
            <a:r>
              <a:rPr lang="en-US" dirty="0"/>
              <a:t>Model parameters have their own source of uncertainty (and correlation)</a:t>
            </a:r>
          </a:p>
          <a:p>
            <a:pPr lvl="2"/>
            <a:r>
              <a:rPr lang="en-US" dirty="0"/>
              <a:t>Need to build this uncertainty into the estimation approach</a:t>
            </a:r>
          </a:p>
        </p:txBody>
      </p:sp>
    </p:spTree>
    <p:extLst>
      <p:ext uri="{BB962C8B-B14F-4D97-AF65-F5344CB8AC3E}">
        <p14:creationId xmlns:p14="http://schemas.microsoft.com/office/powerpoint/2010/main" val="2103671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CC-3413-8049-8EA7-290FED6E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845" y="432623"/>
            <a:ext cx="9824720" cy="898208"/>
          </a:xfrm>
        </p:spPr>
        <p:txBody>
          <a:bodyPr/>
          <a:lstStyle/>
          <a:p>
            <a:r>
              <a:rPr lang="en-US" dirty="0"/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573-9484-CF4E-84A3-BE170EC80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2477" y="1852828"/>
                <a:ext cx="9824720" cy="403320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Bayesian Estimation</a:t>
                </a:r>
              </a:p>
              <a:p>
                <a:r>
                  <a:rPr lang="en-US" dirty="0"/>
                  <a:t>Estimates of variability from the predictive model are given by the variance-covariance matrix from the fitted model</a:t>
                </a:r>
              </a:p>
              <a:p>
                <a:pPr marL="457200" lvl="1" indent="0">
                  <a:buNone/>
                </a:pPr>
                <a:endParaRPr lang="en-GB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∅,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∅,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∅,</m:t>
                      </m:r>
                      <m:r>
                        <a:rPr lang="en-GB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aseline="-25000" dirty="0"/>
              </a:p>
              <a:p>
                <a:pPr lvl="1"/>
                <a:endParaRPr lang="en-GB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∅,</m:t>
                        </m:r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baseline="-25000" dirty="0"/>
                  <a:t> </a:t>
                </a:r>
                <a:r>
                  <a:rPr lang="en-US" sz="2000" dirty="0"/>
                  <a:t>follows a MVN distribution with mean vector and variance-covariance matrix given by estimated parametric model</a:t>
                </a:r>
              </a:p>
              <a:p>
                <a:r>
                  <a:rPr lang="en-US" dirty="0"/>
                  <a:t>Estimates performed using a modified MCMC algorithm</a:t>
                </a:r>
              </a:p>
              <a:p>
                <a:pPr lvl="1"/>
                <a:r>
                  <a:rPr lang="en-US" sz="2000" dirty="0"/>
                  <a:t>Preserve the effects of the predictive model</a:t>
                </a:r>
              </a:p>
              <a:p>
                <a:r>
                  <a:rPr lang="en-US" sz="2400" dirty="0"/>
                  <a:t>Simulation studies show good levels of bias and coverage</a:t>
                </a:r>
              </a:p>
              <a:p>
                <a:endParaRPr lang="en-US" baseline="-25000" dirty="0"/>
              </a:p>
              <a:p>
                <a:endParaRPr lang="en-US" baseline="-25000" dirty="0"/>
              </a:p>
              <a:p>
                <a:endParaRPr lang="en-US" baseline="-25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09D573-9484-CF4E-84A3-BE170EC80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2477" y="1852828"/>
                <a:ext cx="9824720" cy="4033203"/>
              </a:xfrm>
              <a:blipFill>
                <a:blip r:embed="rId2"/>
                <a:stretch>
                  <a:fillRect l="-903"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45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CC-3413-8049-8EA7-290FED6E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595" y="432623"/>
            <a:ext cx="9824720" cy="898208"/>
          </a:xfrm>
        </p:spPr>
        <p:txBody>
          <a:bodyPr/>
          <a:lstStyle/>
          <a:p>
            <a:r>
              <a:rPr lang="en-US" dirty="0"/>
              <a:t>Causal </a:t>
            </a:r>
            <a:r>
              <a:rPr lang="en-US" dirty="0" err="1"/>
              <a:t>Estimand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D573-9484-CF4E-84A3-BE170EC80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439" y="1939325"/>
            <a:ext cx="9824720" cy="40332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 far, method allows estimation of the difference between a model and a dataset</a:t>
            </a:r>
          </a:p>
          <a:p>
            <a:pPr lvl="1"/>
            <a:r>
              <a:rPr lang="en-US" dirty="0"/>
              <a:t>Can we infer a treatment effect?</a:t>
            </a:r>
          </a:p>
          <a:p>
            <a:r>
              <a:rPr lang="en-US" dirty="0"/>
              <a:t>Rubin set forth the conceptual framework for causal estimation</a:t>
            </a:r>
          </a:p>
          <a:p>
            <a:pPr lvl="1"/>
            <a:r>
              <a:rPr lang="en-US" dirty="0"/>
              <a:t>Assuming patients are exposed to two possible treatments</a:t>
            </a:r>
          </a:p>
          <a:p>
            <a:pPr lvl="2"/>
            <a:r>
              <a:rPr lang="en-US" dirty="0"/>
              <a:t>Outcomes: Y(0) and Y(1)</a:t>
            </a:r>
          </a:p>
          <a:p>
            <a:pPr lvl="2"/>
            <a:r>
              <a:rPr lang="en-US" dirty="0"/>
              <a:t>HR: = log[Y(1)] / log [Y(0)]</a:t>
            </a:r>
          </a:p>
          <a:p>
            <a:r>
              <a:rPr lang="en-US" dirty="0"/>
              <a:t>In out context, we observe Y(1) for every patient and Y(0) is estimated as a ‘potential outcome’</a:t>
            </a:r>
          </a:p>
          <a:p>
            <a:pPr lvl="1"/>
            <a:r>
              <a:rPr lang="en-US" dirty="0"/>
              <a:t>Patient level </a:t>
            </a:r>
            <a:r>
              <a:rPr lang="en-US" dirty="0" err="1"/>
              <a:t>estimands</a:t>
            </a:r>
            <a:r>
              <a:rPr lang="en-US" dirty="0"/>
              <a:t> then averaged over a group (or sub-group) to obtain population averaged hazard ratios</a:t>
            </a:r>
          </a:p>
        </p:txBody>
      </p:sp>
    </p:spTree>
    <p:extLst>
      <p:ext uri="{BB962C8B-B14F-4D97-AF65-F5344CB8AC3E}">
        <p14:creationId xmlns:p14="http://schemas.microsoft.com/office/powerpoint/2010/main" val="1063520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1CF1-7AD7-B64B-A617-9F545D61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028" y="463516"/>
            <a:ext cx="9824720" cy="898208"/>
          </a:xfrm>
        </p:spPr>
        <p:txBody>
          <a:bodyPr/>
          <a:lstStyle/>
          <a:p>
            <a:r>
              <a:rPr lang="en-US" dirty="0"/>
              <a:t>Application: ESPAC Trials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BEAAC-47F5-0043-A1AB-9D7CCA434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468" y="1295159"/>
            <a:ext cx="8144301" cy="4814470"/>
          </a:xfrm>
        </p:spPr>
      </p:pic>
    </p:spTree>
    <p:extLst>
      <p:ext uri="{BB962C8B-B14F-4D97-AF65-F5344CB8AC3E}">
        <p14:creationId xmlns:p14="http://schemas.microsoft.com/office/powerpoint/2010/main" val="1961726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46F0-56E2-F540-BF31-9A2AC1C3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957" y="438802"/>
            <a:ext cx="9824720" cy="898208"/>
          </a:xfrm>
        </p:spPr>
        <p:txBody>
          <a:bodyPr/>
          <a:lstStyle/>
          <a:p>
            <a:r>
              <a:rPr lang="en-US" dirty="0"/>
              <a:t>Application: ESPAC Trials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A752325-BD37-6646-B229-B59F2A35E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602" y="1546447"/>
            <a:ext cx="7988232" cy="4493381"/>
          </a:xfrm>
        </p:spPr>
      </p:pic>
    </p:spTree>
    <p:extLst>
      <p:ext uri="{BB962C8B-B14F-4D97-AF65-F5344CB8AC3E}">
        <p14:creationId xmlns:p14="http://schemas.microsoft.com/office/powerpoint/2010/main" val="1716894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B847-57AB-0C4E-AE62-9439AA37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042" y="452718"/>
            <a:ext cx="9824720" cy="898208"/>
          </a:xfrm>
        </p:spPr>
        <p:txBody>
          <a:bodyPr/>
          <a:lstStyle/>
          <a:p>
            <a:r>
              <a:rPr lang="en-US" dirty="0"/>
              <a:t>Application: ESPAC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45216-7F96-0C4B-BD21-E5C53909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673" y="2059579"/>
            <a:ext cx="5477370" cy="3868197"/>
          </a:xfrm>
        </p:spPr>
        <p:txBody>
          <a:bodyPr/>
          <a:lstStyle/>
          <a:p>
            <a:r>
              <a:rPr lang="en-US" dirty="0"/>
              <a:t>Step 1: Study Population</a:t>
            </a:r>
          </a:p>
          <a:p>
            <a:pPr lvl="1"/>
            <a:r>
              <a:rPr lang="en-US" dirty="0"/>
              <a:t>Are two datasets comparable</a:t>
            </a:r>
          </a:p>
          <a:p>
            <a:r>
              <a:rPr lang="en-US" dirty="0"/>
              <a:t>Step 2: Model Validation</a:t>
            </a:r>
          </a:p>
          <a:p>
            <a:pPr lvl="1"/>
            <a:r>
              <a:rPr lang="en-US" dirty="0"/>
              <a:t>Does the model predict ‘Gem’ survival?</a:t>
            </a:r>
          </a:p>
          <a:p>
            <a:pPr lvl="1"/>
            <a:r>
              <a:rPr lang="en-US" dirty="0"/>
              <a:t>Fitting the PSC against the Gem arm allows for a measure of calibration (HR: 0.98)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32AFD-4598-CD46-9D37-80B793B7C18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172" y="901822"/>
            <a:ext cx="4034155" cy="60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15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9DB9-F6F9-0842-AA8B-F99AAF43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990" y="335597"/>
            <a:ext cx="9824720" cy="898208"/>
          </a:xfrm>
        </p:spPr>
        <p:txBody>
          <a:bodyPr/>
          <a:lstStyle/>
          <a:p>
            <a:r>
              <a:rPr lang="en-US" dirty="0"/>
              <a:t>Application: ESPAC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A3682-2753-0D45-BABD-8B9BD3B1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92" y="1860145"/>
            <a:ext cx="9824720" cy="4033203"/>
          </a:xfrm>
        </p:spPr>
        <p:txBody>
          <a:bodyPr/>
          <a:lstStyle/>
          <a:p>
            <a:r>
              <a:rPr lang="en-US" dirty="0"/>
              <a:t>Step 3: Estimate Hazard Ratio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5865C-5E45-1543-8965-87B8E30B0C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086" y="1383957"/>
            <a:ext cx="5447614" cy="53228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CCBAAFD-4203-0640-96B6-4D748B2DF58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50281337"/>
                  </p:ext>
                </p:extLst>
              </p:nvPr>
            </p:nvGraphicFramePr>
            <p:xfrm>
              <a:off x="549983" y="2615137"/>
              <a:ext cx="5447615" cy="955422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{5C22544A-7EE6-4342-B048-85BDC9FD1C3A}</a:tableStyleId>
                  </a:tblPr>
                  <a:tblGrid>
                    <a:gridCol w="2763383">
                      <a:extLst>
                        <a:ext uri="{9D8B030D-6E8A-4147-A177-3AD203B41FA5}">
                          <a16:colId xmlns:a16="http://schemas.microsoft.com/office/drawing/2014/main" val="1323105640"/>
                        </a:ext>
                      </a:extLst>
                    </a:gridCol>
                    <a:gridCol w="1113955">
                      <a:extLst>
                        <a:ext uri="{9D8B030D-6E8A-4147-A177-3AD203B41FA5}">
                          <a16:colId xmlns:a16="http://schemas.microsoft.com/office/drawing/2014/main" val="1337942743"/>
                        </a:ext>
                      </a:extLst>
                    </a:gridCol>
                    <a:gridCol w="1570277">
                      <a:extLst>
                        <a:ext uri="{9D8B030D-6E8A-4147-A177-3AD203B41FA5}">
                          <a16:colId xmlns:a16="http://schemas.microsoft.com/office/drawing/2014/main" val="389391685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Model Estimate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GB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200" dirty="0">
                              <a:effectLst/>
                            </a:rPr>
                            <a:t>(se)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Hazard Ratio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17177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GemCap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Vs Gem (Using PSC)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-0.212 (0.158)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0.81 (0.58 – 1.08)*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089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GemCap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Vs Gem (Direct Estimation)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effectLst/>
                            </a:rPr>
                            <a:t>-0.239 (0.100)</a:t>
                          </a:r>
                          <a:endParaRPr lang="en-GB" sz="12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0.79 (0.65 – 0.96)**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7071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CCBAAFD-4203-0640-96B6-4D748B2DF58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50281337"/>
                  </p:ext>
                </p:extLst>
              </p:nvPr>
            </p:nvGraphicFramePr>
            <p:xfrm>
              <a:off x="549983" y="2615137"/>
              <a:ext cx="5447615" cy="955422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{5C22544A-7EE6-4342-B048-85BDC9FD1C3A}</a:tableStyleId>
                  </a:tblPr>
                  <a:tblGrid>
                    <a:gridCol w="2763383">
                      <a:extLst>
                        <a:ext uri="{9D8B030D-6E8A-4147-A177-3AD203B41FA5}">
                          <a16:colId xmlns:a16="http://schemas.microsoft.com/office/drawing/2014/main" val="1323105640"/>
                        </a:ext>
                      </a:extLst>
                    </a:gridCol>
                    <a:gridCol w="1113955">
                      <a:extLst>
                        <a:ext uri="{9D8B030D-6E8A-4147-A177-3AD203B41FA5}">
                          <a16:colId xmlns:a16="http://schemas.microsoft.com/office/drawing/2014/main" val="1337942743"/>
                        </a:ext>
                      </a:extLst>
                    </a:gridCol>
                    <a:gridCol w="1570277">
                      <a:extLst>
                        <a:ext uri="{9D8B030D-6E8A-4147-A177-3AD203B41FA5}">
                          <a16:colId xmlns:a16="http://schemas.microsoft.com/office/drawing/2014/main" val="3893916851"/>
                        </a:ext>
                      </a:extLst>
                    </a:gridCol>
                  </a:tblGrid>
                  <a:tr h="32816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Model Estimate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3"/>
                          <a:stretch>
                            <a:fillRect l="-248864" t="-3846" r="-143182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Hazard Ratio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1717798"/>
                      </a:ext>
                    </a:extLst>
                  </a:tr>
                  <a:tr h="31362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GemCap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Vs Gem (Using PSC)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-0.212 (0.158)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0.81 (0.58 – 1.08)*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08968"/>
                      </a:ext>
                    </a:extLst>
                  </a:tr>
                  <a:tr h="31362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GemCap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Vs Gem (Direct Estimation)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0">
                              <a:solidFill>
                                <a:schemeClr val="tx1"/>
                              </a:solidFill>
                              <a:effectLst/>
                            </a:rPr>
                            <a:t>-0.239 (0.100)</a:t>
                          </a:r>
                          <a:endParaRPr lang="en-GB" sz="12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0.79 (0.65 – 0.96)**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707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EE54C05-31B1-5A46-8E15-6BAE1AAFB1FF}"/>
              </a:ext>
            </a:extLst>
          </p:cNvPr>
          <p:cNvSpPr txBox="1"/>
          <p:nvPr/>
        </p:nvSpPr>
        <p:spPr>
          <a:xfrm>
            <a:off x="549983" y="4616048"/>
            <a:ext cx="5660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Hazard ratio comparing </a:t>
            </a:r>
            <a:r>
              <a:rPr lang="en-US" dirty="0" err="1"/>
              <a:t>GemCap</a:t>
            </a:r>
            <a:r>
              <a:rPr lang="en-US" dirty="0"/>
              <a:t> to Gemcitabine are comparable using both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of dispersion greater using PSC method (despite a similar number of patients being used in each approach)</a:t>
            </a:r>
          </a:p>
        </p:txBody>
      </p:sp>
    </p:spTree>
    <p:extLst>
      <p:ext uri="{BB962C8B-B14F-4D97-AF65-F5344CB8AC3E}">
        <p14:creationId xmlns:p14="http://schemas.microsoft.com/office/powerpoint/2010/main" val="2052077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1913-7358-1042-AFB8-8828C201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601E-1556-9B44-80A8-FCEFA18A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PSC offer an opportunity to directly compare a cohort of data against a predictive model</a:t>
            </a:r>
          </a:p>
          <a:p>
            <a:pPr lvl="1"/>
            <a:r>
              <a:rPr lang="en-US" dirty="0"/>
              <a:t>What began as a solution to a problem has grown into an approach with a broad applications</a:t>
            </a:r>
          </a:p>
          <a:p>
            <a:r>
              <a:rPr lang="en-US" dirty="0"/>
              <a:t>PSC can be made to compare treatments outside of clinical trials </a:t>
            </a:r>
          </a:p>
          <a:p>
            <a:pPr lvl="1"/>
            <a:r>
              <a:rPr lang="en-US" dirty="0"/>
              <a:t>Typical setting envisaged is comparing RCT data to observational cohort</a:t>
            </a:r>
          </a:p>
          <a:p>
            <a:pPr lvl="2"/>
            <a:r>
              <a:rPr lang="en-US" dirty="0"/>
              <a:t>Strength of randomization held within the predictive model but opportunities for selection/confounder bias still exist.</a:t>
            </a:r>
          </a:p>
          <a:p>
            <a:pPr lvl="1"/>
            <a:r>
              <a:rPr lang="en-US" dirty="0"/>
              <a:t>Possibility for sub-group analysis</a:t>
            </a:r>
          </a:p>
          <a:p>
            <a:pPr lvl="2"/>
            <a:r>
              <a:rPr lang="en-US" dirty="0"/>
              <a:t>PSC will ‘correct’ for whoever is being compared against them</a:t>
            </a:r>
          </a:p>
          <a:p>
            <a:r>
              <a:rPr lang="en-US" dirty="0"/>
              <a:t>Can impact on the analysis of available data and future trial design</a:t>
            </a:r>
          </a:p>
        </p:txBody>
      </p:sp>
    </p:spTree>
    <p:extLst>
      <p:ext uri="{BB962C8B-B14F-4D97-AF65-F5344CB8AC3E}">
        <p14:creationId xmlns:p14="http://schemas.microsoft.com/office/powerpoint/2010/main" val="1865529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DEA4-E834-8443-91ED-0F07CBD3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813C-AF03-8E48-B310-0D83DF050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However…</a:t>
            </a:r>
          </a:p>
          <a:p>
            <a:pPr lvl="1"/>
            <a:r>
              <a:rPr lang="en-US" dirty="0"/>
              <a:t>Strength of their uses depend on their settings</a:t>
            </a:r>
          </a:p>
          <a:p>
            <a:pPr lvl="1"/>
            <a:r>
              <a:rPr lang="en-US" dirty="0"/>
              <a:t>Some care required to ensure that model is not extrapolating beyond it’s use</a:t>
            </a:r>
          </a:p>
          <a:p>
            <a:r>
              <a:rPr lang="en-US" dirty="0"/>
              <a:t>A number of conditions are required for us to infer a treatment effect</a:t>
            </a:r>
          </a:p>
          <a:p>
            <a:pPr lvl="1"/>
            <a:r>
              <a:rPr lang="en-US" dirty="0"/>
              <a:t>Data must be from patients in the same setting</a:t>
            </a:r>
          </a:p>
          <a:p>
            <a:pPr lvl="1"/>
            <a:r>
              <a:rPr lang="en-US" dirty="0"/>
              <a:t>Outcome defined in the same way (e.g. start point for TTE outcomes)</a:t>
            </a:r>
          </a:p>
          <a:p>
            <a:pPr lvl="1"/>
            <a:r>
              <a:rPr lang="en-GB" dirty="0"/>
              <a:t>Stable Unit Treatment Value Assumption (</a:t>
            </a:r>
            <a:r>
              <a:rPr lang="en-GB" b="1" dirty="0"/>
              <a:t>SUTVA</a:t>
            </a:r>
            <a:r>
              <a:rPr lang="en-GB" dirty="0"/>
              <a:t>) – response depends only on the treatment received – not on the setting</a:t>
            </a:r>
          </a:p>
          <a:p>
            <a:pPr lvl="1"/>
            <a:r>
              <a:rPr lang="en-US" dirty="0"/>
              <a:t>No unobserved confounders</a:t>
            </a:r>
          </a:p>
          <a:p>
            <a:pPr lvl="1"/>
            <a:r>
              <a:rPr lang="en-US" dirty="0"/>
              <a:t>Results need to be generalizable (and/or transportable) onto patient population</a:t>
            </a:r>
          </a:p>
          <a:p>
            <a:r>
              <a:rPr lang="en-US" dirty="0"/>
              <a:t>Some assumptions can be checked through model validation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776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C55C-A212-9B41-8166-679648C2D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0CC1-2C2B-2342-A53D-462052EE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PSC offers a likelihood approach to estimating difference between treatments there are a number of extensions that can be applied:</a:t>
            </a:r>
          </a:p>
          <a:p>
            <a:pPr lvl="1"/>
            <a:r>
              <a:rPr lang="en-US" dirty="0"/>
              <a:t>Comparing multiple treatments</a:t>
            </a:r>
          </a:p>
          <a:p>
            <a:pPr lvl="1"/>
            <a:r>
              <a:rPr lang="en-US" dirty="0"/>
              <a:t>Correcting for poorly calibrated models</a:t>
            </a:r>
          </a:p>
          <a:p>
            <a:pPr lvl="1"/>
            <a:r>
              <a:rPr lang="en-US" dirty="0"/>
              <a:t>Allowing for non-proportional models</a:t>
            </a:r>
          </a:p>
          <a:p>
            <a:pPr lvl="1"/>
            <a:r>
              <a:rPr lang="en-US" dirty="0"/>
              <a:t>Relationship other than a hazard ratio</a:t>
            </a:r>
          </a:p>
          <a:p>
            <a:pPr lvl="1"/>
            <a:r>
              <a:rPr lang="en-US" dirty="0"/>
              <a:t>Incorporating Propensity scores/other adjusting covariates</a:t>
            </a:r>
          </a:p>
          <a:p>
            <a:pPr lvl="1"/>
            <a:r>
              <a:rPr lang="en-US" dirty="0"/>
              <a:t>Incorporating in trial design</a:t>
            </a:r>
          </a:p>
          <a:p>
            <a:pPr lvl="2"/>
            <a:r>
              <a:rPr lang="en-US" dirty="0" err="1"/>
              <a:t>Randomise</a:t>
            </a:r>
            <a:r>
              <a:rPr lang="en-US" dirty="0"/>
              <a:t> to a small number of controls for the purpose of validation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294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CC-3413-8049-8EA7-290FED6E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D573-9484-CF4E-84A3-BE170EC8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methods of causal estimation outside of RCTs do exist</a:t>
            </a:r>
          </a:p>
          <a:p>
            <a:pPr lvl="1"/>
            <a:r>
              <a:rPr lang="en-US" dirty="0" err="1"/>
              <a:t>Propenstiy</a:t>
            </a:r>
            <a:r>
              <a:rPr lang="en-US" dirty="0"/>
              <a:t> Score/Multivariable Analyses</a:t>
            </a:r>
          </a:p>
          <a:p>
            <a:pPr lvl="2"/>
            <a:r>
              <a:rPr lang="en-US" dirty="0" err="1"/>
              <a:t>Predominently</a:t>
            </a:r>
            <a:r>
              <a:rPr lang="en-US" dirty="0"/>
              <a:t> performed on observational data</a:t>
            </a:r>
          </a:p>
          <a:p>
            <a:pPr lvl="1"/>
            <a:r>
              <a:rPr lang="en-US" dirty="0"/>
              <a:t>Network Meta-Analysis</a:t>
            </a:r>
          </a:p>
          <a:p>
            <a:pPr lvl="2"/>
            <a:r>
              <a:rPr lang="en-US" dirty="0"/>
              <a:t>Require treatments to fit within a network of completed RCTs (unlikely for new treatments)</a:t>
            </a:r>
          </a:p>
        </p:txBody>
      </p:sp>
    </p:spTree>
    <p:extLst>
      <p:ext uri="{BB962C8B-B14F-4D97-AF65-F5344CB8AC3E}">
        <p14:creationId xmlns:p14="http://schemas.microsoft.com/office/powerpoint/2010/main" val="377538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1205</Words>
  <Application>Microsoft Macintosh PowerPoint</Application>
  <PresentationFormat>Widescreen</PresentationFormat>
  <Paragraphs>161</Paragraphs>
  <Slides>26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Office Theme</vt:lpstr>
      <vt:lpstr>Personalised Synthetic Controls</vt:lpstr>
      <vt:lpstr>Introduction</vt:lpstr>
      <vt:lpstr>Problem</vt:lpstr>
      <vt:lpstr>Model</vt:lpstr>
      <vt:lpstr>Solution: Synthetic Control</vt:lpstr>
      <vt:lpstr>Personalised Prediction</vt:lpstr>
      <vt:lpstr>Patient level prediction</vt:lpstr>
      <vt:lpstr>Patient level prediction</vt:lpstr>
      <vt:lpstr>Patient level prediction</vt:lpstr>
      <vt:lpstr>Patient level prediction</vt:lpstr>
      <vt:lpstr>Patient level prediction</vt:lpstr>
      <vt:lpstr>Patient level prediction</vt:lpstr>
      <vt:lpstr>Estimation</vt:lpstr>
      <vt:lpstr>Estimation</vt:lpstr>
      <vt:lpstr>Revisiting the problem</vt:lpstr>
      <vt:lpstr>Estimation</vt:lpstr>
      <vt:lpstr>Estimation</vt:lpstr>
      <vt:lpstr>Causal Estimand</vt:lpstr>
      <vt:lpstr>Application: ESPAC Trials</vt:lpstr>
      <vt:lpstr>Application: ESPAC Trials</vt:lpstr>
      <vt:lpstr>Application: ESPAC Trials</vt:lpstr>
      <vt:lpstr>Application: ESPAC Trials</vt:lpstr>
      <vt:lpstr>Discussion</vt:lpstr>
      <vt:lpstr>Discussion</vt:lpstr>
      <vt:lpstr>Future Uses</vt:lpstr>
      <vt:lpstr>Causal Estimation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in Cancer Clinical Trials</dc:title>
  <dc:creator>Jackson, Richard [richj23]</dc:creator>
  <cp:lastModifiedBy>Jackson, Richard [richj23]</cp:lastModifiedBy>
  <cp:revision>14</cp:revision>
  <dcterms:created xsi:type="dcterms:W3CDTF">2020-10-15T14:25:21Z</dcterms:created>
  <dcterms:modified xsi:type="dcterms:W3CDTF">2021-09-13T08:55:33Z</dcterms:modified>
</cp:coreProperties>
</file>