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497" r:id="rId34"/>
    <p:sldId id="496" r:id="rId33"/>
    <p:sldId id="495" r:id="rId32"/>
    <p:sldId id="494" r:id="rId31"/>
    <p:sldId id="493" r:id="rId30"/>
    <p:sldId id="490" r:id="rId27"/>
    <p:sldId id="491" r:id="rId28"/>
    <p:sldId id="492" r:id="rId29"/>
    <p:sldId id="262" r:id="rId8"/>
    <p:sldId id="485" r:id="rId9"/>
    <p:sldId id="486" r:id="rId10"/>
    <p:sldId id="480" r:id="rId11"/>
    <p:sldId id="488" r:id="rId12"/>
    <p:sldId id="489" r:id="rId13"/>
    <p:sldId id="482" r:id="rId14"/>
    <p:sldId id="483" r:id="rId15"/>
    <p:sldId id="484" r:id="rId16"/>
    <p:sldId id="501" r:id="rId36"/>
    <p:sldId id="500" r:id="rId35"/>
    <p:sldId id="499" r:id="rId17"/>
    <p:sldId id="498" r:id="rId18"/>
    <p:sldId id="264" r:id="rId19"/>
    <p:sldId id="502" r:id="rId21"/>
    <p:sldId id="50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71"/>
    <p:restoredTop sz="94695"/>
  </p:normalViewPr>
  <p:slideViewPr>
    <p:cSldViewPr snapToGrid="0">
      <p:cViewPr varScale="1">
        <p:scale>
          <a:sx n="90" d="100"/>
          <a:sy n="90" d="100"/>
        </p:scale>
        <p:origin x="23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5.xml"/><Relationship Id="rId9" Type="http://schemas.openxmlformats.org/officeDocument/2006/relationships/slide" Target="slides/slide16.xml"/><Relationship Id="rId10" Type="http://schemas.openxmlformats.org/officeDocument/2006/relationships/slide" Target="slides/slide17.xml"/><Relationship Id="rId11" Type="http://schemas.openxmlformats.org/officeDocument/2006/relationships/slide" Target="slides/slide18.xml"/><Relationship Id="rId12" Type="http://schemas.openxmlformats.org/officeDocument/2006/relationships/slide" Target="slides/slide19.xml"/><Relationship Id="rId13" Type="http://schemas.openxmlformats.org/officeDocument/2006/relationships/slide" Target="slides/slide20.xml"/><Relationship Id="rId14" Type="http://schemas.openxmlformats.org/officeDocument/2006/relationships/slide" Target="slides/slide21.xml"/><Relationship Id="rId15" Type="http://schemas.openxmlformats.org/officeDocument/2006/relationships/slide" Target="slides/slide22.xml"/><Relationship Id="rId16" Type="http://schemas.openxmlformats.org/officeDocument/2006/relationships/slide" Target="slides/slide23.xml"/><Relationship Id="rId17" Type="http://schemas.openxmlformats.org/officeDocument/2006/relationships/slide" Target="slides/slide30.xml"/><Relationship Id="rId18" Type="http://schemas.openxmlformats.org/officeDocument/2006/relationships/slide" Target="slides/slide29.xml"/><Relationship Id="rId19" Type="http://schemas.openxmlformats.org/officeDocument/2006/relationships/slide" Target="slides/slide28.xml"/><Relationship Id="rId20" Type="http://schemas.openxmlformats.org/officeDocument/2006/relationships/slide" Target="slides/slide30.xml"/><Relationship Id="rId21" Type="http://schemas.openxmlformats.org/officeDocument/2006/relationships/slide" Target="slides/slide29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1.xml"/><Relationship Id="rId31" Type="http://schemas.openxmlformats.org/officeDocument/2006/relationships/slide" Target="slides/slide10.xml"/><Relationship Id="rId32" Type="http://schemas.openxmlformats.org/officeDocument/2006/relationships/slide" Target="slides/slide9.xml"/><Relationship Id="rId33" Type="http://schemas.openxmlformats.org/officeDocument/2006/relationships/slide" Target="slides/slide8.xml"/><Relationship Id="rId34" Type="http://schemas.openxmlformats.org/officeDocument/2006/relationships/slide" Target="slides/slide7.xml"/><Relationship Id="rId35" Type="http://schemas.openxmlformats.org/officeDocument/2006/relationships/slide" Target="slides/slide25.xml"/><Relationship Id="rId36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45-minute seminar: PSC, causal framing, comparisons, applications, SCT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SCT manuscript: enforced ignorance vs information available at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Pfizer deck: Rubin framework; HR as contrast of potential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HDSforum comparison; different estimand from MAIC/STC.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 from manuscript; sample sizes in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psc package on GitHub richJJackson/psc. pscCFM wraps a fitted model for sharing; pscfit runs the comparison. Mention vignette and gemCFM example data in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pscfit workflow: pscData -&gt; init -&gt; pscEst -&gt; postSummary. See ?pscEst and ?pscfit in the psc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 violation of exchangeability between external and trial populations.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From: Synthetically Controlled Trials in Early Phase Clinical Trials (manuscript).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18B69-5831-83B2-5C58-0766CD013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F96C8-67E5-09AF-7456-09F57E01C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C12C7-F820-2181-4B9C-6D0FAAB06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3E638-0FE0-89C2-F79C-CA401E90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8AB6E-5F3E-7355-3DA6-3AF6D79FA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1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7B7C-52A9-CE2B-9A1F-0FB0A62CB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84633-7680-CDD1-03AC-10FE10791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A11D5-EA89-79C8-8C40-6C41DBBB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F9C2D-F034-3B83-AAEF-A4C695AB3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63BAA-BC8F-E346-109F-79F1C1D0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7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E503-691D-C629-4C20-B6DBC773F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B27EB-0FC3-655F-A864-A61B35D86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16F8E-C778-A292-87F6-06E00023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B9C50-1A99-2510-A7C9-2F71F4E95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B6E44-2EE5-A8A3-19EC-50D2DBCAB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1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57176-C00D-B2B2-A041-4FFC7035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025DD-17E8-93B0-3644-85FA5BF83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1B664-0611-EB02-EB7A-992E4E35F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AA849-4C21-5259-3049-8170B041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35881-294D-A550-8CFD-277A83E7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C9A9E-A93B-4934-D45E-CE688323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2423-7E3D-FDF4-AFAE-58842EBC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77EB4-939A-EA5B-0403-0492C25C0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15BBA-50D2-4606-2600-0AC9F8A21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83C1EF-8E2B-FBC9-B6BE-6CD9AC2A2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8EEC1-E25E-B125-D3CE-880985EAC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5C710-852E-F94B-C6F8-619CE8E2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DDDD7-6371-6125-1CAA-809E39DB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445FB-6D50-C3D3-E9F6-0CD268D3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0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5ED5-BD4F-BF35-9B89-D8A6623C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C4EF2-2876-1775-9903-90B956440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2CF6D-639E-5F54-DDEE-D8E8C7A3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8E71A-6FB7-C0E3-3AC2-B2D8B572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1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07AE1-162A-6D32-7DE6-BE554DB9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5A015-84D6-3AD5-168B-5C211CE34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24D12-C193-BF28-8004-AE4E4A20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35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B37E-C590-241C-E3D8-D890902E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7BB77-5EA6-C7D8-3351-8E34A2EEF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EF395-6853-3F17-D301-51359EDCD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9E317-8E73-1772-D265-950E2FF4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8C9BC-64CE-25F4-7BD6-073A208B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36B35-8147-DD45-1719-6DBBB098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5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5E02-46BE-236E-201B-0DB1E438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A2AFD-BBF7-7B1E-FD19-86B928F77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24486-D125-968F-56F6-81125BD57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F6617-7F2E-3182-DBAA-567FFD41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EB970-578B-0B5C-B4A7-58B40D36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61874-7155-5B6A-E873-8691AB37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96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C112-CB66-C0A8-EFDA-4A6D25F6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6ECCB-4CA5-26E9-2F6D-C4E5EA48B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66FE7-3217-2F29-8441-4DAA0EE01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9B5D8-F05F-CDB8-D38E-B548A41E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4EB1A-C642-B09D-2391-AF643B40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D52758-5435-D878-C19C-13B4B1515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E6496-1D59-0186-857C-A9C472C20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20123-11F6-8E91-EBF6-F6106DE7B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EE870-51AF-E455-FD31-5C709CBDE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DFBD3-67AF-3819-428B-5D75562D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335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86592-CD1E-F2B5-D49D-F21E5FE93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C49A-4921-BD95-6FA5-863B03920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6C46F-9A96-8D54-EC15-89B360936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E756B-F514-034C-8327-E0D7ECBEC15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5A7A3-8E58-0055-1D83-509BBF058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0D529-B2D8-8A89-EBFF-09B461F3F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441DF-F818-9D41-BAC9-14917BE65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9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wmf"/><Relationship Id="rId3" Type="http://schemas.openxmlformats.org/officeDocument/2006/relationships/image" Target="../media/image19.w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w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3" Type="http://schemas.openxmlformats.org/officeDocument/2006/relationships/image" Target="../media/image9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C52E-D7CE-E00C-AF97-21CEBDB02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74320"/>
            <a:ext cx="10972800" cy="617220"/>
          </a:xfrm>
        </p:spPr>
        <p:txBody>
          <a:bodyPr wrap="square" lIns="0" rIns="0"/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Personalised Synthetic 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41656-82B9-AD1C-1EED-DB54E80D0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" y="1234440"/>
            <a:ext cx="11183112" cy="1280160"/>
          </a:xfrm>
        </p:spPr>
        <p:txBody>
          <a:bodyPr wrap="square"/>
          <a:lstStyle/>
          <a:p>
            <a:pPr algn="ctr">
              <a:defRPr sz="2200">
                <a:solidFill>
                  <a:srgbClr val="156082"/>
                </a:solidFill>
              </a:defRPr>
            </a:pPr>
            <a:r>
              <a:t>Causal inference and prospective clinical trial design</a:t>
            </a:r>
          </a:p>
          <a:p>
            <a:pPr algn="ctr">
              <a:defRPr sz="2200">
                <a:solidFill>
                  <a:srgbClr val="156082"/>
                </a:solidFill>
              </a:defRPr>
            </a:pPr>
            <a:r>
              <a:t>Dr Richard Jackson</a:t>
            </a:r>
          </a:p>
        </p:txBody>
      </p:sp>
    </p:spTree>
    <p:extLst>
      <p:ext uri="{BB962C8B-B14F-4D97-AF65-F5344CB8AC3E}">
        <p14:creationId xmlns:p14="http://schemas.microsoft.com/office/powerpoint/2010/main" val="1944396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E99AA-4A85-0A26-B355-DF1C5B53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B464-B57A-581D-A928-A7CF4A7ED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960120"/>
            <a:ext cx="5486400" cy="5623560"/>
          </a:xfrm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The problem: evidence without a concurrent control arm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Synthetic controls - recap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Personalised synthetic controls (PSC)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Patient-level prediction and likelihood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Bayesian estimation (MCMC)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PSC as causal inference</a:t>
            </a:r>
          </a:p>
        </p:txBody>
      </p:sp>
      <p:sp>
        <p:nvSpPr>
          <p:cNvPr id="5" name="TitleAccent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OutlineRight"/>
          <p:cNvSpPr txBox="1"/>
          <p:nvPr/>
        </p:nvSpPr>
        <p:spPr>
          <a:xfrm>
            <a:off x="6263640" y="960120"/>
            <a:ext cx="5486400" cy="5623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Comparison with other causal / comparative methods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The psc R package (software)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Applications in practice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Synthetically controlled trials (4 slides)</a:t>
            </a:r>
          </a:p>
          <a:p>
            <a:pPr>
              <a:defRPr sz="1700">
                <a:solidFill>
                  <a:srgbClr val="333333"/>
                </a:solidFill>
              </a:defRPr>
            </a:pPr>
            <a:r>
              <a:t>Limitations and future directions</a:t>
            </a:r>
          </a:p>
        </p:txBody>
      </p:sp>
    </p:spTree>
    <p:extLst>
      <p:ext uri="{BB962C8B-B14F-4D97-AF65-F5344CB8AC3E}">
        <p14:creationId xmlns:p14="http://schemas.microsoft.com/office/powerpoint/2010/main" val="765238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1183-058E-68C3-6284-CD74D940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617220"/>
          </a:xfrm>
        </p:spPr>
        <p:txBody>
          <a:bodyPr wrap="square" lIns="0" rIns="0"/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The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C61E0-B575-8E8A-0891-697AA3AEB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60120"/>
            <a:ext cx="57150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960120"/>
            <a:ext cx="5257800" cy="5623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RCTs remain the gold standard but require large samples, time, and cost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Scarce resources in rare disease and early-phase oncology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Single-arm trials are common but lack a concurrent comparator for efficacy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Substantial prior information on control care exists (historical trials, registries)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Challenge: credible causal estimate of experimental treatment vs standard of care</a:t>
            </a:r>
          </a:p>
        </p:txBody>
      </p:sp>
    </p:spTree>
    <p:extLst>
      <p:ext uri="{BB962C8B-B14F-4D97-AF65-F5344CB8AC3E}">
        <p14:creationId xmlns:p14="http://schemas.microsoft.com/office/powerpoint/2010/main" val="3318840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73A4F-AD27-2312-B13F-7FE40DB9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Synthetic controls - a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B1D4-DD21-1E80-BCB8-2E7B95152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960120"/>
            <a:ext cx="11183111" cy="5623560"/>
          </a:xfrm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62B33"/>
                </a:solidFill>
                <a:latin typeface="Calibri"/>
              </a:defRPr>
            </a:pPr>
            <a:r>
              <a:rPr sz="1800">
                <a:solidFill>
                  <a:srgbClr val="333333"/>
                </a:solidFill>
              </a:rPr>
              <a:t>Causal inference tool (Abadie): construct a synthetic control from donor units</a:t>
            </a:r>
            <a:endParaRPr lang="en-US"/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Donors weighted so treated and synthetic cohorts match pre-treatment covariates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Typically targets a population-averaged treatment effect (ATE)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Increasing use in healthcare and cancer research (Thorlund et al.)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Limitations: few donors, heterogeneous patients, unstable weights under poor overlap</a:t>
            </a:r>
          </a:p>
        </p:txBody>
      </p:sp>
      <p:sp>
        <p:nvSpPr>
          <p:cNvPr id="4" name="TitleAccent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06165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CA4A-2320-64BB-A409-0D25B936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Personalised synthetic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D4B4E-23CA-8316-764E-43941FCEA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960120"/>
            <a:ext cx="11183111" cy="5623560"/>
          </a:xfrm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62B33"/>
                </a:solidFill>
                <a:latin typeface="Calibri"/>
              </a:defRPr>
            </a:pPr>
            <a:r>
              <a:rPr sz="1800">
                <a:solidFill>
                  <a:srgbClr val="333333"/>
                </a:solidFill>
              </a:rPr>
              <a:t>Parametric counterfactual model (CFM) from external / historical control data</a:t>
            </a:r>
            <a:endParaRPr lang="en-US"/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Patient-level predicted outcome under control given covariates X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Compare observed outcomes in evaluation cohort to CFM predictions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Beta: systematic deviation from counterfactual (treatment / policy effect)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Personalised linear predictor (Jackson et al., BMC Med Res Methodol 2025)</a:t>
            </a:r>
          </a:p>
        </p:txBody>
      </p:sp>
      <p:sp>
        <p:nvSpPr>
          <p:cNvPr id="4" name="TitleAccent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53720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8AFA-1314-9711-D13B-D9B80226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PSC -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2A608-A22D-AD3C-C27A-03AFF676B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960120"/>
            <a:ext cx="11183111" cy="5623560"/>
          </a:xfrm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62B33"/>
                </a:solidFill>
                <a:latin typeface="Calibri"/>
              </a:defRPr>
            </a:pPr>
            <a:r>
              <a:rPr sz="1800">
                <a:solidFill>
                  <a:srgbClr val="333333"/>
                </a:solidFill>
              </a:rPr>
              <a:t>Likelihood: product of patient-level survival or GLM contributions</a:t>
            </a:r>
            <a:endParaRPr lang="en-US"/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Bayesian estimation of beta; uncertainty in CFM parameters incorporated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CFM often from RCT control arm (flexible parametric survival, 11+ covariates)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Subgroup and transportability analyses via row indices / weights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Shareable CFM object without releasing individual development data</a:t>
            </a:r>
          </a:p>
        </p:txBody>
      </p:sp>
      <p:sp>
        <p:nvSpPr>
          <p:cNvPr id="4" name="TitleAccent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65951107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Patient-level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itleAccent"/>
          <p:cNvSpPr/>
          <p:nvPr/>
        </p:nvSpPr>
        <p:spPr>
          <a:xfrm>
            <a:off x="502920" y="950976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mpu4pnmcvg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349240" cy="5029200"/>
          </a:xfrm>
          <a:prstGeom prst="rect">
            <a:avLst/>
          </a:prstGeom>
        </p:spPr>
      </p:pic>
      <p:pic>
        <p:nvPicPr>
          <p:cNvPr id="6" name="Picture 5" descr="tmp5yugyioy.w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051560"/>
            <a:ext cx="57150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56082"/>
                </a:solidFill>
              </a:defRPr>
            </a:pPr>
            <a:r>
              <a:t>Counterfactual survival from the CFM vs observed outcome for individual patients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Patient-level prediction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itleAccent"/>
          <p:cNvSpPr/>
          <p:nvPr/>
        </p:nvSpPr>
        <p:spPr>
          <a:xfrm>
            <a:off x="502920" y="950976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mp8gvdbx_3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51560"/>
            <a:ext cx="111556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Estimation: defining the likelihood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itleAccent"/>
          <p:cNvSpPr/>
          <p:nvPr/>
        </p:nvSpPr>
        <p:spPr>
          <a:xfrm>
            <a:off x="502920" y="950976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3111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</a:defRPr>
            </a:pPr>
            <a:r>
              <a:t>Standard survival likelihood, conditional on CFM parameters and patient covariates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</a:defRPr>
            </a:pPr>
            <a:r>
              <a:t>For each patient i: contribution from event time and censoring indicator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</a:defRPr>
            </a:pPr>
            <a:r>
              <a:t>Linear predictor: Gamma_i = X_i' gamma + beta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</a:defRPr>
            </a:pPr>
            <a:r>
              <a:t>gamma from the counterfactual model; beta is the treatment-effect parameter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</a:defRPr>
            </a:pPr>
            <a:r>
              <a:t>Product over patients: L(D | Lambda, Gamma) compared to CFM predictions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Why Bayesian estimation?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itleAccent"/>
          <p:cNvSpPr/>
          <p:nvPr/>
        </p:nvSpPr>
        <p:spPr>
          <a:xfrm>
            <a:off x="502920" y="950976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3111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</a:defRPr>
            </a:pPr>
            <a:r>
              <a:t>A plug-in MLE for beta (e.g. optim in R) can appear unbiased in simulation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</a:defRPr>
            </a:pPr>
            <a:r>
              <a:t>But the counterfactual model is not known with certainty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</a:defRPr>
            </a:pPr>
            <a:r>
              <a:t>CFM coefficients have their own uncertainty and correlation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</a:defRPr>
            </a:pPr>
            <a:r>
              <a:t>We need that uncertainty propagated into inference on beta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</a:defRPr>
            </a:pPr>
            <a:r>
              <a:t>Bayesian MCMC: informative priors on CFM parameters + weak prior on beta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Bayesian MCMC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itleAccent"/>
          <p:cNvSpPr/>
          <p:nvPr/>
        </p:nvSpPr>
        <p:spPr>
          <a:xfrm>
            <a:off x="502920" y="950976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3111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Target: posterior P(beta | B, D) proportional to L(D | B, beta) pi(B) pi(beta)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pi(B): MVN from CFM coefficient estimates and variance-covariance matrix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pi(beta): weakly informative (e.g. N(0, 1000) on log hazard ratio)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Each MCMC iteration: draw CFM parameters B; propose beta; compute likelihood ratio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Accept/reject proposal; repeat for nsim iterations (multiple chains, burn-in, thin)</a:t>
            </a:r>
          </a:p>
          <a:p>
            <a:pPr>
              <a:spcAft>
                <a:spcPts val="900"/>
              </a:spcAft>
              <a:defRPr sz="1700">
                <a:solidFill>
                  <a:srgbClr val="333333"/>
                </a:solidFill>
              </a:defRPr>
            </a:pPr>
            <a:r>
              <a:t>Output: posterior draws for beta — summary() and plot() in the psc package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PSC as causal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960120"/>
            <a:ext cx="11183111" cy="5623560"/>
          </a:xfrm>
        </p:spPr>
        <p:txBody>
          <a:bodyPr wrap="square" anchor="t"/>
          <a:lstStyle/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Potential outcomes Y(0) and Y(1); observe Y(1), estimate Y(0) via CFM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Estimand: ATT conditional on measured covariates X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Identification: exchangeability given X, SUTVA, covariate overlap / transportability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Counterfactual control fixed before enrolment; depends on realised trial population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800">
                <a:solidFill>
                  <a:srgbClr val="333333"/>
                </a:solidFill>
              </a:rPr>
              <a:t>Beta on log-hazard scale: contrast vs counterfactual predictions</a:t>
            </a:r>
          </a:p>
        </p:txBody>
      </p:sp>
      <p:sp>
        <p:nvSpPr>
          <p:cNvPr id="4" name="TitleAccent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How PSC compares with other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960120"/>
            <a:ext cx="11183111" cy="5623560"/>
          </a:xfrm>
        </p:spPr>
        <p:txBody>
          <a:bodyPr wrap="square" anchor="t"/>
          <a:lstStyle/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RCT: randomisation gives ITT treatment effect (gold standard when feasible)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Propensity scores / IPW: balance observational cohorts to ATE or ATT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MAIC / STC: align two trial populations for indirect comparison A vs B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Classical synthetic controls: donor weights for population-level ATE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PSC: validated CFM + evaluation cohort gives beta vs control model (not A vs B)</a:t>
            </a:r>
          </a:p>
        </p:txBody>
      </p:sp>
      <p:sp>
        <p:nvSpPr>
          <p:cNvPr id="4" name="TitleAccent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The psc R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itleAccent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349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 package for Personalised Synthetic Controls (v2.0.1)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Compare a data cohort to a counterfactual model (CFM)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Supports flexsurvreg survival models and glm outcomes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Bayesian MCMC for treatment-effect parameter beta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Key functions: pscCFM(), pscfit(), summary(), plot()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Related: pscDesign (trial simulation) in development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Install: devtools::install_github("richJJackson/psc")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Docs: https://richjjackson.github.io/psc/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960120"/>
            <a:ext cx="5715000" cy="5486400"/>
          </a:xfrm>
          <a:prstGeom prst="rect">
            <a:avLst/>
          </a:prstGeom>
          <a:solidFill>
            <a:srgbClr val="F0F4F8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5440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enlo"/>
              </a:defRPr>
            </a:pPr>
            <a:r>
              <a:t>library(psc)</a:t>
            </a:r>
            <a:br/>
            <a:r>
              <a:t>library(survival)</a:t>
            </a:r>
            <a:br/>
            <a:br/>
            <a:r>
              <a:t># counterfactual model (from control data)</a:t>
            </a:r>
            <a:br/>
            <a:r>
              <a:t>CFM &lt;- pscCFM(surv.mod)</a:t>
            </a:r>
            <a:br/>
            <a:br/>
            <a:r>
              <a:t># evaluation cohort (e.g. single arm)</a:t>
            </a:r>
            <a:br/>
            <a:r>
              <a:t>fit &lt;- pscfit(CFM, data)</a:t>
            </a:r>
            <a:br/>
            <a:br/>
            <a:r>
              <a:t>summary(fit)</a:t>
            </a:r>
            <a:br/>
            <a:r>
              <a:t>plot(fit)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61264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156082"/>
                </a:solidFill>
              </a:defRPr>
            </a:pPr>
            <a:r>
              <a:t>Minimal workflow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807F-3C50-6754-5748-96B9BE281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Applications and case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1641E-DA0A-471B-C982-848E9CD4F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960120"/>
            <a:ext cx="11183111" cy="5623560"/>
          </a:xfrm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62B33"/>
                </a:solidFill>
                <a:latin typeface="Calibri"/>
              </a:defRPr>
            </a:pPr>
            <a:r>
              <a:rPr sz="1600">
                <a:solidFill>
                  <a:srgbClr val="333333"/>
                </a:solidFill>
              </a:rPr>
              <a:t>Retrospective: single-arm or one-arm vs external control model</a:t>
            </a:r>
            <a:endParaRPr lang="en-US"/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Calibration: PSC on control arm of RCT (ESPAC Gem arm)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Benchmarking: observational cohort vs known trial (HCC Atezo-Bev)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Prediction: Phase II single-arm HR vs Phase III RCT</a:t>
            </a:r>
          </a:p>
        </p:txBody>
      </p:sp>
      <p:sp>
        <p:nvSpPr>
          <p:cNvPr id="4" name="TitleAccent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39213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444B9-9921-A448-B827-EF1693C27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C82A7-11EF-4366-3781-6B077318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502920" y="256032"/>
            <a:ext cx="11183111" cy="658368"/>
          </a:xfrm>
        </p:spPr>
        <p:txBody>
          <a:bodyPr wrap="square" lIns="0" rIns="0">
            <a:normAutofit fontScale="90000"/>
          </a:bodyPr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Application: ESPAC trials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3DAA1E87-7546-DF76-D01C-81FDD1739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9320" y="960120"/>
            <a:ext cx="5715000" cy="5486400"/>
          </a:xfrm>
        </p:spPr>
      </p:pic>
      <p:sp>
        <p:nvSpPr>
          <p:cNvPr id="6" name="TextBox 5"/>
          <p:cNvSpPr txBox="1"/>
          <p:nvPr/>
        </p:nvSpPr>
        <p:spPr>
          <a:xfrm>
            <a:off x="502920" y="960120"/>
            <a:ext cx="5257800" cy="5440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Step 1 - Study population: are Gem development data and ESPAC-4 comparable?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Step 2 - Model validation: PSC on Gem arm gives calibration HR approx 0.98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Step 3 - GemCap vs Gem: PSC HR comparable to direct RCT comparison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Greater uncertainty under PSC despite similar effective sample size</a:t>
            </a:r>
          </a:p>
        </p:txBody>
      </p:sp>
    </p:spTree>
    <p:extLst>
      <p:ext uri="{BB962C8B-B14F-4D97-AF65-F5344CB8AC3E}">
        <p14:creationId xmlns:p14="http://schemas.microsoft.com/office/powerpoint/2010/main" val="1069142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20C81-7448-CA0A-CF85-8D4D9EF0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876C6-F99F-F97E-ABDE-0778F4C9C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960120"/>
            <a:ext cx="5257800" cy="502920"/>
          </a:xfrm>
        </p:spPr>
        <p:txBody>
          <a:bodyPr wrap="square" anchor="t">
            <a:normAutofit fontScale="92500"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100" b="1">
                <a:solidFill>
                  <a:srgbClr val="262B33"/>
                </a:solidFill>
                <a:latin typeface="Calibri"/>
              </a:defRPr>
            </a:pPr>
            <a:r>
              <a:rPr lang="en-US" dirty="0" sz="2000">
                <a:solidFill>
                  <a:srgbClr val="156082"/>
                </a:solidFill>
              </a:rPr>
              <a:t>Step 3: Estimate Hazard Ratio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2100" b="1">
                <a:solidFill>
                  <a:srgbClr val="262B33"/>
                </a:solidFill>
                <a:latin typeface="Calibri"/>
              </a:defRPr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E77EE4-8FA6-8B64-22B4-27BAC0BCA10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320" y="960120"/>
            <a:ext cx="5715000" cy="548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73378F86-4FB3-C94C-47FD-096CA33C96D2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051684" y="2237632"/>
              <a:ext cx="5184986" cy="1362617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{5C22544A-7EE6-4342-B048-85BDC9FD1C3A}</a:tableStyleId>
                  </a:tblPr>
                  <a:tblGrid>
                    <a:gridCol w="1576551">
                      <a:extLst>
                        <a:ext uri="{9D8B030D-6E8A-4147-A177-3AD203B41FA5}">
                          <a16:colId xmlns:a16="http://schemas.microsoft.com/office/drawing/2014/main" val="1323105640"/>
                        </a:ext>
                      </a:extLst>
                    </a:gridCol>
                    <a:gridCol w="1723178">
                      <a:extLst>
                        <a:ext uri="{9D8B030D-6E8A-4147-A177-3AD203B41FA5}">
                          <a16:colId xmlns:a16="http://schemas.microsoft.com/office/drawing/2014/main" val="1337942743"/>
                        </a:ext>
                      </a:extLst>
                    </a:gridCol>
                    <a:gridCol w="1885257">
                      <a:extLst>
                        <a:ext uri="{9D8B030D-6E8A-4147-A177-3AD203B41FA5}">
                          <a16:colId xmlns:a16="http://schemas.microsoft.com/office/drawing/2014/main" val="3893916851"/>
                        </a:ext>
                      </a:extLst>
                    </a:gridCol>
                  </a:tblGrid>
                  <a:tr h="27966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Model Estimate</a:t>
                          </a:r>
                          <a:endParaRPr lang="en-GB" sz="1200" dirty="0"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GB" sz="1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600" dirty="0">
                              <a:effectLst/>
                            </a:rPr>
                            <a:t>(se)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(</a:t>
                          </a:r>
                          <a:r>
                            <a:rPr lang="en-US" sz="1600" dirty="0" err="1">
                              <a:effectLst/>
                            </a:rPr>
                            <a:t>GemGAP</a:t>
                          </a:r>
                          <a:r>
                            <a:rPr lang="en-US" sz="1600" dirty="0">
                              <a:effectLst/>
                            </a:rPr>
                            <a:t> </a:t>
                          </a:r>
                          <a:r>
                            <a:rPr lang="en-US" sz="1600" dirty="0" err="1">
                              <a:effectLst/>
                            </a:rPr>
                            <a:t>vS</a:t>
                          </a:r>
                          <a:r>
                            <a:rPr lang="en-US" sz="1600" dirty="0">
                              <a:effectLst/>
                            </a:rPr>
                            <a:t> Gem)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961717798"/>
                      </a:ext>
                    </a:extLst>
                  </a:tr>
                  <a:tr h="26732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MS Gothic" panose="020B0609070205080204" pitchFamily="49" charset="-128"/>
                              <a:cs typeface="Times New Roman" panose="02020603050405020304" pitchFamily="18" charset="0"/>
                            </a:rPr>
                            <a:t>PSC</a:t>
                          </a: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-0.212 (0.158)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0.81 (0.58 – 1.08)*</a:t>
                          </a:r>
                          <a:endParaRPr lang="en-GB" sz="16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08968"/>
                      </a:ext>
                    </a:extLst>
                  </a:tr>
                  <a:tr h="50301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Direct Estimation</a:t>
                          </a:r>
                          <a:endParaRPr lang="en-GB" sz="1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0">
                              <a:solidFill>
                                <a:schemeClr val="tx1"/>
                              </a:solidFill>
                              <a:effectLst/>
                            </a:rPr>
                            <a:t>-0.239 (0.100)</a:t>
                          </a:r>
                          <a:endParaRPr lang="en-GB" sz="16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0.79 (0.65 – 0.96)**</a:t>
                          </a:r>
                          <a:endParaRPr lang="en-GB" sz="16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57071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73378F86-4FB3-C94C-47FD-096CA33C96D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90176947"/>
                  </p:ext>
                </p:extLst>
              </p:nvPr>
            </p:nvGraphicFramePr>
            <p:xfrm>
              <a:off x="1051684" y="2237632"/>
              <a:ext cx="5184986" cy="1362617"/>
            </p:xfrm>
            <a:graphic>
              <a:graphicData uri="http://schemas.openxmlformats.org/drawingml/2006/table">
                <a:tbl>
                  <a:tblPr firstRow="1" firstCol="1" lastRow="1" lastCol="1">
                    <a:tableStyleId>{5C22544A-7EE6-4342-B048-85BDC9FD1C3A}</a:tableStyleId>
                  </a:tblPr>
                  <a:tblGrid>
                    <a:gridCol w="1576551">
                      <a:extLst>
                        <a:ext uri="{9D8B030D-6E8A-4147-A177-3AD203B41FA5}">
                          <a16:colId xmlns:a16="http://schemas.microsoft.com/office/drawing/2014/main" val="1323105640"/>
                        </a:ext>
                      </a:extLst>
                    </a:gridCol>
                    <a:gridCol w="1723178">
                      <a:extLst>
                        <a:ext uri="{9D8B030D-6E8A-4147-A177-3AD203B41FA5}">
                          <a16:colId xmlns:a16="http://schemas.microsoft.com/office/drawing/2014/main" val="1337942743"/>
                        </a:ext>
                      </a:extLst>
                    </a:gridCol>
                    <a:gridCol w="1885257">
                      <a:extLst>
                        <a:ext uri="{9D8B030D-6E8A-4147-A177-3AD203B41FA5}">
                          <a16:colId xmlns:a16="http://schemas.microsoft.com/office/drawing/2014/main" val="3893916851"/>
                        </a:ext>
                      </a:extLst>
                    </a:gridCol>
                  </a:tblGrid>
                  <a:tr h="43948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Model Estimate</a:t>
                          </a:r>
                          <a:endParaRPr lang="en-GB" sz="1200" dirty="0"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3"/>
                          <a:stretch>
                            <a:fillRect l="-91912" t="-2857" r="-111029" b="-2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(</a:t>
                          </a:r>
                          <a:r>
                            <a:rPr lang="en-US" sz="1600" dirty="0" err="1">
                              <a:effectLst/>
                            </a:rPr>
                            <a:t>GemGAP</a:t>
                          </a:r>
                          <a:r>
                            <a:rPr lang="en-US" sz="1600" dirty="0">
                              <a:effectLst/>
                            </a:rPr>
                            <a:t> </a:t>
                          </a:r>
                          <a:r>
                            <a:rPr lang="en-US" sz="1600" dirty="0" err="1">
                              <a:effectLst/>
                            </a:rPr>
                            <a:t>vS</a:t>
                          </a:r>
                          <a:r>
                            <a:rPr lang="en-US" sz="1600" dirty="0">
                              <a:effectLst/>
                            </a:rPr>
                            <a:t> Gem)</a:t>
                          </a:r>
                          <a:endParaRPr lang="en-GB" sz="1600" dirty="0"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961717798"/>
                      </a:ext>
                    </a:extLst>
                  </a:tr>
                  <a:tr h="420116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MS Gothic" panose="020B0609070205080204" pitchFamily="49" charset="-128"/>
                              <a:cs typeface="Times New Roman" panose="02020603050405020304" pitchFamily="18" charset="0"/>
                            </a:rPr>
                            <a:t>PSC</a:t>
                          </a: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-0.212 (0.158)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0.81 (0.58 – 1.08)*</a:t>
                          </a:r>
                          <a:endParaRPr lang="en-GB" sz="16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08968"/>
                      </a:ext>
                    </a:extLst>
                  </a:tr>
                  <a:tr h="50301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Direct Estimation</a:t>
                          </a:r>
                          <a:endParaRPr lang="en-GB" sz="1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0">
                              <a:solidFill>
                                <a:schemeClr val="tx1"/>
                              </a:solidFill>
                              <a:effectLst/>
                            </a:rPr>
                            <a:t>-0.239 (0.100)</a:t>
                          </a:r>
                          <a:endParaRPr lang="en-GB" sz="16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0.79 (0.65 – 0.96)**</a:t>
                          </a:r>
                          <a:endParaRPr lang="en-GB" sz="16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Gothic" panose="020B0609070205080204" pitchFamily="49" charset="-128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57071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C5C078D-9EAF-C7F6-3BF9-B9DF7232413C}"/>
              </a:ext>
            </a:extLst>
          </p:cNvPr>
          <p:cNvSpPr txBox="1"/>
          <p:nvPr/>
        </p:nvSpPr>
        <p:spPr>
          <a:xfrm>
            <a:off x="502920" y="1600200"/>
            <a:ext cx="5257800" cy="4754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262B33"/>
                </a:solidFill>
                <a:latin typeface="Calibri"/>
              </a:defRPr>
            </a:pPr>
            <a:r>
              <a:rPr lang="en-US" dirty="0" sz="1600">
                <a:solidFill>
                  <a:srgbClr val="333333"/>
                </a:solidFill>
              </a:rPr>
              <a:t>Conclusion: </a:t>
            </a:r>
          </a:p>
          <a:p>
            <a:pPr marL="285750" indent="-285750" algn="l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62B33"/>
                </a:solidFill>
                <a:latin typeface="Calibri"/>
              </a:defRPr>
            </a:pPr>
            <a:r>
              <a:rPr lang="en-US" dirty="0" sz="1600">
                <a:solidFill>
                  <a:srgbClr val="333333"/>
                </a:solidFill>
              </a:rPr>
              <a:t>Hazard ratio comparing </a:t>
            </a:r>
            <a:r>
              <a:rPr lang="en-US" dirty="0" err="1" sz="1600">
                <a:solidFill>
                  <a:srgbClr val="333333"/>
                </a:solidFill>
              </a:rPr>
              <a:t>GemCap</a:t>
            </a:r>
            <a:r>
              <a:rPr lang="en-US" dirty="0" sz="1600">
                <a:solidFill>
                  <a:srgbClr val="333333"/>
                </a:solidFill>
              </a:rPr>
              <a:t> to Gemcitabine are comparable using both methods</a:t>
            </a:r>
          </a:p>
          <a:p>
            <a:pPr marL="285750" indent="-285750" algn="l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62B33"/>
                </a:solidFill>
                <a:latin typeface="Calibri"/>
              </a:defRPr>
            </a:pPr>
            <a:r>
              <a:rPr lang="en-US" dirty="0" sz="1600">
                <a:solidFill>
                  <a:srgbClr val="333333"/>
                </a:solidFill>
              </a:rPr>
              <a:t>Measures of dispersion greater using PSC method (despite a similar number of patients being used in each approach)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60E4C56-06C6-0D75-D8BE-4ABF750D5901}"/>
              </a:ext>
            </a:extLst>
          </p:cNvPr>
          <p:cNvSpPr txBox="1">
            <a:spLocks/>
          </p:cNvSpPr>
          <p:nvPr/>
        </p:nvSpPr>
        <p:spPr>
          <a:xfrm rot="16200000">
            <a:off x="502920" y="256032"/>
            <a:ext cx="11183111" cy="658368"/>
          </a:xfrm>
          <a:prstGeom prst="rect">
            <a:avLst/>
          </a:prstGeom>
        </p:spPr>
        <p:txBody>
          <a:bodyPr vert="horz" lIns="0" tIns="45720" rIns="0" bIns="45720" rtlCol="0" anchor="ctr" wrap="square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Application: ESPAC trials</a:t>
            </a:r>
          </a:p>
        </p:txBody>
      </p:sp>
    </p:spTree>
    <p:extLst>
      <p:ext uri="{BB962C8B-B14F-4D97-AF65-F5344CB8AC3E}">
        <p14:creationId xmlns:p14="http://schemas.microsoft.com/office/powerpoint/2010/main" val="2343628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525ED38B-5B81-799E-F7E3-855864F0F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349240" cy="521208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8F7E87CC-07CF-30D1-418E-5BB8A1D7C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>
            <a:normAutofit fontScale="90000"/>
          </a:bodyPr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Application: HCC (Atezo-Bev vs Sorafenib)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DFD34E-A97E-498C-F9FF-08A9B6F31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960120"/>
            <a:ext cx="571500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18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010F5-B6DE-53FE-429C-F1D743582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853A-8869-2867-3AC9-3AB1B65A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>
            <a:normAutofit fontScale="90000"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0E2841"/>
                </a:solidFill>
                <a:latin typeface="Calibri"/>
              </a:defRPr>
            </a:pPr>
            <a:r>
              <a:rPr lang="en-US" dirty="0" err="1">
                <a:solidFill>
                  <a:schemeClr val="bg1"/>
                </a:solidFill>
              </a:rPr>
              <a:t>Atezo</a:t>
            </a:r>
            <a:r>
              <a:rPr lang="en-US" dirty="0">
                <a:solidFill>
                  <a:schemeClr val="bg1"/>
                </a:solidFill>
              </a:rPr>
              <a:t> Bev Vs Sorafenib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E876-BD49-E253-0F76-85CEB15BB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960120"/>
            <a:ext cx="11183111" cy="777240"/>
          </a:xfrm>
        </p:spPr>
        <p:txBody>
          <a:bodyPr wrap="square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  <a:defRPr sz="2100" b="0">
                <a:solidFill>
                  <a:srgbClr val="262B33"/>
                </a:solidFill>
                <a:latin typeface="Calibri"/>
              </a:defRPr>
            </a:pPr>
            <a:r>
              <a:rPr lang="en-US" dirty="0" sz="1700">
                <a:solidFill>
                  <a:srgbClr val="333333"/>
                </a:solidFill>
              </a:rPr>
              <a:t>Overall impact suggests improved survival with </a:t>
            </a:r>
            <a:r>
              <a:rPr lang="en-US" dirty="0" err="1" sz="1700">
                <a:solidFill>
                  <a:srgbClr val="333333"/>
                </a:solidFill>
              </a:rPr>
              <a:t>Atezo</a:t>
            </a:r>
            <a:r>
              <a:rPr lang="en-US" dirty="0" sz="1700">
                <a:solidFill>
                  <a:srgbClr val="333333"/>
                </a:solidFill>
              </a:rPr>
              <a:t> Bev [HR: 0.58 (0.44-0.74)]</a:t>
            </a:r>
          </a:p>
        </p:txBody>
      </p:sp>
      <p:pic>
        <p:nvPicPr>
          <p:cNvPr id="6" name="Picture 5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EE3F5E09-17D9-3BBC-FEA0-9D73254E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5394960" cy="4434840"/>
          </a:xfrm>
          <a:prstGeom prst="rect">
            <a:avLst/>
          </a:prstGeom>
        </p:spPr>
      </p:pic>
      <p:pic>
        <p:nvPicPr>
          <p:cNvPr id="12" name="Picture 1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E6AA594E-AFEC-1E40-4E41-3613844DC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74519"/>
            <a:ext cx="5715000" cy="4434840"/>
          </a:xfrm>
          <a:prstGeom prst="rect">
            <a:avLst/>
          </a:prstGeom>
        </p:spPr>
      </p:pic>
      <p:sp>
        <p:nvSpPr>
          <p:cNvPr id="13" name="Doughnut 12">
            <a:extLst>
              <a:ext uri="{FF2B5EF4-FFF2-40B4-BE49-F238E27FC236}">
                <a16:creationId xmlns:a16="http://schemas.microsoft.com/office/drawing/2014/main" id="{BDD7D08F-9373-975F-E148-6D9504E388FA}"/>
              </a:ext>
            </a:extLst>
          </p:cNvPr>
          <p:cNvSpPr/>
          <p:nvPr/>
        </p:nvSpPr>
        <p:spPr>
          <a:xfrm>
            <a:off x="5989320" y="5989320"/>
            <a:ext cx="5715000" cy="640080"/>
          </a:xfrm>
          <a:prstGeom prst="donut">
            <a:avLst>
              <a:gd name="adj" fmla="val 101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262B33"/>
                </a:solidFill>
                <a:latin typeface="Calibri"/>
              </a:defRPr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942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>
            <a:extLst>
              <a:ext uri="{FF2B5EF4-FFF2-40B4-BE49-F238E27FC236}">
                <a16:creationId xmlns:a16="http://schemas.microsoft.com/office/drawing/2014/main" id="{FBE6388F-C5BA-AF5E-73C3-D271F67A2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1691640"/>
            <a:ext cx="5440680" cy="46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4">
            <a:extLst>
              <a:ext uri="{FF2B5EF4-FFF2-40B4-BE49-F238E27FC236}">
                <a16:creationId xmlns:a16="http://schemas.microsoft.com/office/drawing/2014/main" id="{7A8AC486-D9D9-797C-EE8E-4417567B6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320" y="1691640"/>
            <a:ext cx="5715000" cy="46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88B899-D9A9-0B8D-7F7C-4D04FAA28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952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defRPr sz="1800" b="0">
                <a:solidFill>
                  <a:srgbClr val="262B33"/>
                </a:solidFill>
                <a:latin typeface="Calibri"/>
              </a:defRPr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B22E9-EF29-AA20-5002-B2E4FACEC4AD}"/>
              </a:ext>
            </a:extLst>
          </p:cNvPr>
          <p:cNvSpPr txBox="1"/>
          <p:nvPr/>
        </p:nvSpPr>
        <p:spPr>
          <a:xfrm>
            <a:off x="502920" y="256032"/>
            <a:ext cx="11183111" cy="658368"/>
          </a:xfrm>
          <a:prstGeom prst="rect">
            <a:avLst/>
          </a:prstGeom>
          <a:noFill/>
        </p:spPr>
        <p:txBody>
          <a:bodyPr wrap="square" rtlCol="0" anchor="t" lIns="0" r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HCC: eligibility subgroups (IMBRAVE 150)</a:t>
            </a:r>
          </a:p>
        </p:txBody>
      </p:sp>
      <p:sp>
        <p:nvSpPr>
          <p:cNvPr id="1027" name="TitleAccent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58166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6DE5-8612-12DD-F352-432727B50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 algn="l">
              <a:spcAft>
                <a:spcPts val="400"/>
              </a:spcAft>
              <a:defRPr sz="3200" b="1">
                <a:solidFill>
                  <a:srgbClr val="0E2841"/>
                </a:solidFill>
                <a:latin typeface="Calibri"/>
              </a:defRPr>
            </a:pPr>
            <a:r>
              <a:rPr lang="en-US" dirty="0"/>
              <a:t>Predicting Phase III outcomes from Phase II data...</a:t>
            </a:r>
          </a:p>
        </p:txBody>
      </p:sp>
      <p:pic>
        <p:nvPicPr>
          <p:cNvPr id="4" name="Content Placeholder 3" descr="A graph of a number of patients with prosash&#10;&#10;AI-generated content may be incorrect.">
            <a:extLst>
              <a:ext uri="{FF2B5EF4-FFF2-40B4-BE49-F238E27FC236}">
                <a16:creationId xmlns:a16="http://schemas.microsoft.com/office/drawing/2014/main" id="{60B36338-BE0F-5F96-2568-80AAB245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920" y="1874519"/>
            <a:ext cx="5349240" cy="4572000"/>
          </a:xfrm>
          <a:prstGeom prst="rect">
            <a:avLst/>
          </a:prstGeom>
        </p:spPr>
      </p:pic>
      <p:pic>
        <p:nvPicPr>
          <p:cNvPr id="5" name="Picture 4" descr="A graph showing the number of months&#10;&#10;AI-generated content may be incorrect.">
            <a:extLst>
              <a:ext uri="{FF2B5EF4-FFF2-40B4-BE49-F238E27FC236}">
                <a16:creationId xmlns:a16="http://schemas.microsoft.com/office/drawing/2014/main" id="{E8B610F4-D0D8-A823-5B0D-BF9379402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74519"/>
            <a:ext cx="5715000" cy="45720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26A1AA-52E3-D038-DDD0-233E7AEA16E3}"/>
              </a:ext>
            </a:extLst>
          </p:cNvPr>
          <p:cNvGraphicFramePr>
            <a:graphicFrameLocks noGrp="1"/>
          </p:cNvGraphicFramePr>
          <p:nvPr/>
        </p:nvGraphicFramePr>
        <p:xfrm>
          <a:off x="1709482" y="2321761"/>
          <a:ext cx="2389549" cy="1994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89549">
                  <a:extLst>
                    <a:ext uri="{9D8B030D-6E8A-4147-A177-3AD203B41FA5}">
                      <a16:colId xmlns:a16="http://schemas.microsoft.com/office/drawing/2014/main" val="3731383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0.50 (95% CI 0.39-0.64)</a:t>
                      </a:r>
                      <a:endParaRPr lang="en-GB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6288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FF6E258-49DF-F181-5591-A41A250D9960}"/>
              </a:ext>
            </a:extLst>
          </p:cNvPr>
          <p:cNvSpPr txBox="1"/>
          <p:nvPr/>
        </p:nvSpPr>
        <p:spPr>
          <a:xfrm>
            <a:off x="6172200" y="1389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GB" sz="1500" dirty="0">
                <a:solidFill>
                  <a:srgbClr val="15608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0.63 (0.46-0.86)</a:t>
            </a:r>
            <a:r>
              <a:rPr lang="en-GB" dirty="0" sz="1500">
                <a:solidFill>
                  <a:srgbClr val="156082"/>
                </a:solidFill>
                <a:effectLst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31FD0-866B-6E86-6C66-7A5C9536A476}"/>
              </a:ext>
            </a:extLst>
          </p:cNvPr>
          <p:cNvSpPr txBox="1"/>
          <p:nvPr/>
        </p:nvSpPr>
        <p:spPr>
          <a:xfrm>
            <a:off x="685800" y="1024128"/>
            <a:ext cx="4937760" cy="3474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US" dirty="0" sz="1500">
                <a:solidFill>
                  <a:srgbClr val="156082"/>
                </a:solidFill>
              </a:rPr>
              <a:t>Single Arm Phase II.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12E9A-278D-D582-85B6-8D556D00FDD0}"/>
              </a:ext>
            </a:extLst>
          </p:cNvPr>
          <p:cNvSpPr txBox="1"/>
          <p:nvPr/>
        </p:nvSpPr>
        <p:spPr>
          <a:xfrm>
            <a:off x="6172200" y="1024128"/>
            <a:ext cx="4937760" cy="3474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US" dirty="0" sz="1500">
                <a:solidFill>
                  <a:srgbClr val="156082"/>
                </a:solidFill>
              </a:rPr>
              <a:t>Phase III</a:t>
            </a:r>
          </a:p>
        </p:txBody>
      </p:sp>
    </p:spTree>
    <p:extLst>
      <p:ext uri="{BB962C8B-B14F-4D97-AF65-F5344CB8AC3E}">
        <p14:creationId xmlns:p14="http://schemas.microsoft.com/office/powerpoint/2010/main" val="2656200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E2AB-334E-0793-140A-6F001A3C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 algn="l">
              <a:spcAft>
                <a:spcPts val="400"/>
              </a:spcAft>
              <a:defRPr sz="3200" b="1">
                <a:solidFill>
                  <a:srgbClr val="0E2841"/>
                </a:solidFill>
                <a:latin typeface="Calibri"/>
              </a:defRPr>
            </a:pPr>
            <a:r>
              <a:rPr lang="en-US" dirty="0"/>
              <a:t>Sorafenib Vs </a:t>
            </a:r>
            <a:r>
              <a:rPr lang="en-US" dirty="0" err="1"/>
              <a:t>Brivanib</a:t>
            </a:r>
            <a:endParaRPr lang="en-US" dirty="0"/>
          </a:p>
        </p:txBody>
      </p:sp>
      <p:pic>
        <p:nvPicPr>
          <p:cNvPr id="4" name="Picture 3" descr="A graph of a number of procash&#10;&#10;AI-generated content may be incorrect.">
            <a:extLst>
              <a:ext uri="{FF2B5EF4-FFF2-40B4-BE49-F238E27FC236}">
                <a16:creationId xmlns:a16="http://schemas.microsoft.com/office/drawing/2014/main" id="{4BB05916-BD8C-BAE0-ACD2-69EBDC5F8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5349240" cy="4572000"/>
          </a:xfrm>
          <a:prstGeom prst="rect">
            <a:avLst/>
          </a:prstGeom>
        </p:spPr>
      </p:pic>
      <p:pic>
        <p:nvPicPr>
          <p:cNvPr id="5" name="Picture 4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8988433C-60B3-6220-CCE0-BD2E0BE6D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74519"/>
            <a:ext cx="57150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E9429A-3A52-D617-CE19-632877C735B7}"/>
              </a:ext>
            </a:extLst>
          </p:cNvPr>
          <p:cNvSpPr txBox="1"/>
          <p:nvPr/>
        </p:nvSpPr>
        <p:spPr>
          <a:xfrm>
            <a:off x="6172200" y="1389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GB" sz="1500" dirty="0">
                <a:solidFill>
                  <a:srgbClr val="E9713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1.04 (95% CI= 0.90-1.20)</a:t>
            </a:r>
            <a:r>
              <a:rPr lang="en-GB" dirty="0" sz="1500">
                <a:solidFill>
                  <a:srgbClr val="E97132"/>
                </a:solidFill>
                <a:effectLst/>
              </a:rPr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52F00-912B-3A86-5EAA-3F3730ECEDD5}"/>
              </a:ext>
            </a:extLst>
          </p:cNvPr>
          <p:cNvSpPr txBox="1"/>
          <p:nvPr/>
        </p:nvSpPr>
        <p:spPr>
          <a:xfrm>
            <a:off x="685800" y="1389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GB" sz="1500" dirty="0">
                <a:solidFill>
                  <a:srgbClr val="E9713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0.98 (95% CI= 0.83-1.16)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31B82-35CB-32FA-5034-121514950C7B}"/>
              </a:ext>
            </a:extLst>
          </p:cNvPr>
          <p:cNvSpPr txBox="1"/>
          <p:nvPr/>
        </p:nvSpPr>
        <p:spPr>
          <a:xfrm>
            <a:off x="685800" y="1024128"/>
            <a:ext cx="4937760" cy="3474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US" dirty="0" sz="1500">
                <a:solidFill>
                  <a:srgbClr val="156082"/>
                </a:solidFill>
              </a:rPr>
              <a:t>Single Arm Phase II.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0E34E-7A29-CB09-C63E-5BB45D45A583}"/>
              </a:ext>
            </a:extLst>
          </p:cNvPr>
          <p:cNvSpPr txBox="1"/>
          <p:nvPr/>
        </p:nvSpPr>
        <p:spPr>
          <a:xfrm>
            <a:off x="6172200" y="1024128"/>
            <a:ext cx="4937760" cy="3474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US" dirty="0" sz="1500">
                <a:solidFill>
                  <a:srgbClr val="156082"/>
                </a:solidFill>
              </a:rPr>
              <a:t>Phase III</a:t>
            </a:r>
          </a:p>
        </p:txBody>
      </p:sp>
    </p:spTree>
    <p:extLst>
      <p:ext uri="{BB962C8B-B14F-4D97-AF65-F5344CB8AC3E}">
        <p14:creationId xmlns:p14="http://schemas.microsoft.com/office/powerpoint/2010/main" val="3344981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63F2-10C3-EE40-4244-59616AB6E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 algn="l">
              <a:spcAft>
                <a:spcPts val="400"/>
              </a:spcAft>
              <a:defRPr sz="3200" b="1">
                <a:solidFill>
                  <a:srgbClr val="0E2841"/>
                </a:solidFill>
                <a:latin typeface="Calibri"/>
              </a:defRPr>
            </a:pPr>
            <a:r>
              <a:rPr lang="en-US" dirty="0"/>
              <a:t>Sorafenib Vs </a:t>
            </a:r>
            <a:r>
              <a:rPr lang="en-US" dirty="0" err="1"/>
              <a:t>Soraf</a:t>
            </a:r>
            <a:r>
              <a:rPr lang="en-US" dirty="0"/>
              <a:t>./Mapatumumab</a:t>
            </a:r>
          </a:p>
        </p:txBody>
      </p:sp>
      <p:pic>
        <p:nvPicPr>
          <p:cNvPr id="4" name="Picture 3" descr="A graph of a number of patients with prosash&#10;&#10;AI-generated content may be incorrect.">
            <a:extLst>
              <a:ext uri="{FF2B5EF4-FFF2-40B4-BE49-F238E27FC236}">
                <a16:creationId xmlns:a16="http://schemas.microsoft.com/office/drawing/2014/main" id="{220809A7-71E3-4ECD-2D6F-67A71CA31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5349240" cy="4572000"/>
          </a:xfrm>
          <a:prstGeom prst="rect">
            <a:avLst/>
          </a:prstGeom>
        </p:spPr>
      </p:pic>
      <p:pic>
        <p:nvPicPr>
          <p:cNvPr id="5" name="Picture 4" descr="A graph showing a curve&#10;&#10;AI-generated content may be incorrect.">
            <a:extLst>
              <a:ext uri="{FF2B5EF4-FFF2-40B4-BE49-F238E27FC236}">
                <a16:creationId xmlns:a16="http://schemas.microsoft.com/office/drawing/2014/main" id="{D58B191C-F256-AB7C-0E56-8EF6868FE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74519"/>
            <a:ext cx="57150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ADED7A-DDFA-8477-ED5B-B381F3F13C9F}"/>
              </a:ext>
            </a:extLst>
          </p:cNvPr>
          <p:cNvSpPr txBox="1"/>
          <p:nvPr/>
        </p:nvSpPr>
        <p:spPr>
          <a:xfrm>
            <a:off x="6172200" y="1389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GB" sz="1500" dirty="0">
                <a:solidFill>
                  <a:srgbClr val="E9713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HR= 1.10 (95% CI= 0.70-1.73)</a:t>
            </a:r>
            <a:r>
              <a:rPr lang="en-GB" dirty="0" sz="1500">
                <a:solidFill>
                  <a:srgbClr val="E97132"/>
                </a:solidFill>
                <a:effectLst/>
              </a:rPr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2575F-4FBA-ADA4-66DC-8FCB5A5E193A}"/>
              </a:ext>
            </a:extLst>
          </p:cNvPr>
          <p:cNvSpPr txBox="1"/>
          <p:nvPr/>
        </p:nvSpPr>
        <p:spPr>
          <a:xfrm>
            <a:off x="685800" y="1389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GB" sz="1500" dirty="0">
                <a:solidFill>
                  <a:srgbClr val="E9713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1.04 (95% CI= 0.69-1.50)</a:t>
            </a:r>
            <a:r>
              <a:rPr lang="en-GB" dirty="0" sz="1500">
                <a:solidFill>
                  <a:srgbClr val="E97132"/>
                </a:solidFill>
                <a:effectLst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0CEDC-8AA5-7028-F947-72EBD98E2BB2}"/>
              </a:ext>
            </a:extLst>
          </p:cNvPr>
          <p:cNvSpPr txBox="1"/>
          <p:nvPr/>
        </p:nvSpPr>
        <p:spPr>
          <a:xfrm>
            <a:off x="685800" y="1024128"/>
            <a:ext cx="4937760" cy="3474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US" dirty="0" sz="1500">
                <a:solidFill>
                  <a:srgbClr val="156082"/>
                </a:solidFill>
              </a:rPr>
              <a:t>Single Arm Phase II.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DDD45-5577-42E0-04E0-C83553A06898}"/>
              </a:ext>
            </a:extLst>
          </p:cNvPr>
          <p:cNvSpPr txBox="1"/>
          <p:nvPr/>
        </p:nvSpPr>
        <p:spPr>
          <a:xfrm>
            <a:off x="6172200" y="1024128"/>
            <a:ext cx="4937760" cy="3474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 b="1">
                <a:solidFill>
                  <a:srgbClr val="262B33"/>
                </a:solidFill>
                <a:latin typeface="Calibri"/>
              </a:defRPr>
            </a:pPr>
            <a:r>
              <a:rPr lang="en-US" dirty="0" sz="1500">
                <a:solidFill>
                  <a:srgbClr val="156082"/>
                </a:solidFill>
              </a:rPr>
              <a:t>Phase III</a:t>
            </a:r>
          </a:p>
        </p:txBody>
      </p:sp>
    </p:spTree>
    <p:extLst>
      <p:ext uri="{BB962C8B-B14F-4D97-AF65-F5344CB8AC3E}">
        <p14:creationId xmlns:p14="http://schemas.microsoft.com/office/powerpoint/2010/main" val="1901470433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SCT: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itleAccent"/>
          <p:cNvSpPr/>
          <p:nvPr/>
        </p:nvSpPr>
        <p:spPr>
          <a:xfrm>
            <a:off x="502920" y="950976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3111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Synthetically controlled trials (SCTs) use external evidence as the control arm in prospective studies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Motivation: scarce patients in rare disease and early-phase oncology; prior control information exists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Contrasts with enforced ignorance: historical data and registries increasingly inform design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Builds on synthetic control causal inference (Abadie) and personalised SC (Jackson et al.)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Regulatory and HTA interest in external controls, digital twins, and single-arm enrichment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Goal: transparent prospective design with pre-specified synthetic control before first patient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SCT: design and estimand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itleAccent"/>
          <p:cNvSpPr/>
          <p:nvPr/>
        </p:nvSpPr>
        <p:spPr>
          <a:xfrm>
            <a:off x="502920" y="950976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3111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Collect Y(1) prospectively; derive Y(0) from pre-specified external / model-based control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Population-averaged SC: weighted average of external controls (e.g. entropy balance)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Personalised SC (PSC): parametric CFM gives patient-specific counterfactuals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Estimand: ATT in the enrolled cohort, conditional on measured covariates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Assumptions: exchangeability given X, SUTVA, overlap between trial and external data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Design options: fully synthetic (single arm), partially synthetic (+ validation RCT arm), standard RCT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C754-7076-F85D-02A2-A1A965627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183111" cy="658368"/>
          </a:xfrm>
        </p:spPr>
        <p:txBody>
          <a:bodyPr wrap="square" lIns="0" rIns="0"/>
          <a:lstStyle/>
          <a:p>
            <a:pPr>
              <a:spcAft>
                <a:spcPts val="400"/>
              </a:spcAft>
              <a:defRPr sz="3200" b="1">
                <a:solidFill>
                  <a:srgbClr val="0E2841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25386-EC0B-00BE-ED4E-A9E7E599B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960120"/>
            <a:ext cx="11183111" cy="5623560"/>
          </a:xfrm>
        </p:spPr>
        <p:txBody>
          <a:bodyPr wrap="square" anchor="t"/>
          <a:lstStyle/>
          <a:p>
            <a:pPr algn="l">
              <a:lnSpc>
                <a:spcPct val="115000"/>
              </a:lnSpc>
              <a:spcAft>
                <a:spcPts val="1000"/>
              </a:spcAft>
              <a:defRPr sz="2000" b="0">
                <a:solidFill>
                  <a:srgbClr val="262B33"/>
                </a:solidFill>
                <a:latin typeface="Calibri"/>
              </a:defRPr>
            </a:pPr>
            <a:r>
              <a:rPr sz="1600">
                <a:solidFill>
                  <a:srgbClr val="333333"/>
                </a:solidFill>
              </a:rPr>
              <a:t>Requires overlap: unstable weights (population SC) or CFM extrapolation (PSC)</a:t>
            </a:r>
            <a:endParaRPr lang="en-US"/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Restrict eligibility at design to regions supported by the synthetic control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Unmeasured confounding; outcome definitions and SOC context must align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SCT evidence is not equivalent to a fully randomised trial; efficiency has a cost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/>
            </a:pPr>
            <a:r>
              <a:rPr sz="1600">
                <a:solidFill>
                  <a:srgbClr val="333333"/>
                </a:solidFill>
              </a:rPr>
              <a:t>Model validation and transport diagnostics should be pre-specified</a:t>
            </a:r>
          </a:p>
        </p:txBody>
      </p:sp>
      <p:sp>
        <p:nvSpPr>
          <p:cNvPr id="4" name="TitleAccent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82933891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Further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Proximity-weighted PSC for covariate shift and transportability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Simulation under deliberate exchangeability violations (pscDesign package)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Multiple treatments, non-proportional hazards, alternative effect measures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Small randomised control subsample for prospective validation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Software: psc R package (Jackson et al., BMC Med Res Methodol 2025;25:91)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Further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Proximity-weighted PSC for covariate shift and transportability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Simulation under deliberate exchangeability violations (pscDesign package)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Multiple treatments, non-proportional hazards, alternative effect measures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Small randomised control subsample for prospective validation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Software: psc R package (Jackson et al., BMC Med Res Methodol 2025;25:91)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56082"/>
                </a:solidFill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E2841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156082"/>
                </a:solidFill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252</Words>
  <Application>Microsoft Macintosh PowerPoint</Application>
  <PresentationFormat>Widescreen</PresentationFormat>
  <Paragraphs>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Personalised Synthetic Controls</vt:lpstr>
      <vt:lpstr>PowerPoint Presentation</vt:lpstr>
      <vt:lpstr>The problem….</vt:lpstr>
      <vt:lpstr>Synthetic Controls – a recap</vt:lpstr>
      <vt:lpstr>Personalised Synthetic Controls</vt:lpstr>
      <vt:lpstr>Personalised Synthetic Controls (Methods)</vt:lpstr>
      <vt:lpstr>Applications and Case Studies</vt:lpstr>
      <vt:lpstr>Application: ESPAC Trials</vt:lpstr>
      <vt:lpstr>PowerPoint Presentation</vt:lpstr>
      <vt:lpstr>Atezo Bev Vs Sorafenib</vt:lpstr>
      <vt:lpstr>Atezo Bev Vs Sorafenib</vt:lpstr>
      <vt:lpstr>PowerPoint Presentation</vt:lpstr>
      <vt:lpstr>Predicting Phase III outcomes from Phase II data...</vt:lpstr>
      <vt:lpstr>Sorafenib Vs Brivanib</vt:lpstr>
      <vt:lpstr>Sorafenib Vs Soraf./Mapatumumab</vt:lpstr>
      <vt:lpstr>Synthetically Controlled Trials</vt:lpstr>
      <vt:lpstr>Dissemination</vt:lpstr>
      <vt:lpstr>Limitations</vt:lpstr>
      <vt:lpstr>Further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Jackson, Richard [richj23]</dc:creator>
  <cp:lastModifiedBy>Jackson, Richard [richj23]</cp:lastModifiedBy>
  <cp:revision>1</cp:revision>
  <dcterms:created xsi:type="dcterms:W3CDTF">2026-04-15T09:02:56Z</dcterms:created>
  <dcterms:modified xsi:type="dcterms:W3CDTF">2026-04-15T12:11:48Z</dcterms:modified>
</cp:coreProperties>
</file>